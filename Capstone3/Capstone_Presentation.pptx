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8" r:id="rId8"/>
    <p:sldId id="263" r:id="rId9"/>
    <p:sldId id="264" r:id="rId10"/>
    <p:sldId id="265" r:id="rId11"/>
    <p:sldId id="266" r:id="rId12"/>
    <p:sldId id="267" r:id="rId13"/>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9" d="100"/>
          <a:sy n="109" d="100"/>
        </p:scale>
        <p:origin x="706"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579733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slide. Project predicts NBA salary from production and identifies over and underpaid players.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457200" y="1417320"/>
            <a:ext cx="822960" cy="822960"/>
          </a:xfrm>
          <a:prstGeom prst="roundRect">
            <a:avLst>
              <a:gd name="adj" fmla="val 13333"/>
            </a:avLst>
          </a:prstGeom>
          <a:solidFill>
            <a:srgbClr val="E56020"/>
          </a:solidFill>
          <a:ln/>
        </p:spPr>
        <p:txBody>
          <a:bodyPr/>
          <a:lstStyle/>
          <a:p>
            <a:endParaRPr lang="en-US"/>
          </a:p>
        </p:txBody>
      </p:sp>
      <p:sp>
        <p:nvSpPr>
          <p:cNvPr id="3" name="Text 1"/>
          <p:cNvSpPr/>
          <p:nvPr/>
        </p:nvSpPr>
        <p:spPr>
          <a:xfrm>
            <a:off x="457200" y="1417320"/>
            <a:ext cx="822960" cy="822960"/>
          </a:xfrm>
          <a:prstGeom prst="rect">
            <a:avLst/>
          </a:prstGeom>
          <a:noFill/>
          <a:ln/>
        </p:spPr>
        <p:txBody>
          <a:bodyPr wrap="square"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NBA</a:t>
            </a:r>
            <a:endParaRPr lang="en-US" sz="2000" dirty="0"/>
          </a:p>
        </p:txBody>
      </p:sp>
      <p:sp>
        <p:nvSpPr>
          <p:cNvPr id="4" name="Text 2"/>
          <p:cNvSpPr/>
          <p:nvPr/>
        </p:nvSpPr>
        <p:spPr>
          <a:xfrm>
            <a:off x="1554480" y="1371600"/>
            <a:ext cx="7223760" cy="1005840"/>
          </a:xfrm>
          <a:prstGeom prst="rect">
            <a:avLst/>
          </a:prstGeom>
          <a:noFill/>
          <a:ln/>
        </p:spPr>
        <p:txBody>
          <a:bodyPr wrap="square" rtlCol="0" anchor="ctr"/>
          <a:lstStyle/>
          <a:p>
            <a:pPr marL="0" indent="0">
              <a:buNone/>
            </a:pPr>
            <a:r>
              <a:rPr lang="en-US" sz="3600" b="1" dirty="0">
                <a:solidFill>
                  <a:srgbClr val="FFFFFF"/>
                </a:solidFill>
                <a:latin typeface="Cambria" pitchFamily="34" charset="0"/>
                <a:ea typeface="Cambria" pitchFamily="34" charset="-122"/>
                <a:cs typeface="Cambria" pitchFamily="34" charset="-120"/>
              </a:rPr>
              <a:t>NBA Player Salaries and Market Value</a:t>
            </a:r>
            <a:endParaRPr lang="en-US" sz="3600" dirty="0"/>
          </a:p>
        </p:txBody>
      </p:sp>
      <p:sp>
        <p:nvSpPr>
          <p:cNvPr id="5" name="Text 3"/>
          <p:cNvSpPr/>
          <p:nvPr/>
        </p:nvSpPr>
        <p:spPr>
          <a:xfrm>
            <a:off x="1572768" y="2395728"/>
            <a:ext cx="7223760" cy="457200"/>
          </a:xfrm>
          <a:prstGeom prst="rect">
            <a:avLst/>
          </a:prstGeom>
          <a:noFill/>
          <a:ln/>
        </p:spPr>
        <p:txBody>
          <a:bodyPr wrap="square" rtlCol="0" anchor="ctr"/>
          <a:lstStyle/>
          <a:p>
            <a:pPr marL="0" indent="0">
              <a:buNone/>
            </a:pPr>
            <a:r>
              <a:rPr lang="en-US" sz="1500" i="1" dirty="0">
                <a:solidFill>
                  <a:srgbClr val="CADCFC"/>
                </a:solidFill>
                <a:latin typeface="Calibri" pitchFamily="34" charset="0"/>
                <a:ea typeface="Calibri" pitchFamily="34" charset="-122"/>
                <a:cs typeface="Calibri" pitchFamily="34" charset="-120"/>
              </a:rPr>
              <a:t>Predicting player pay and finding who is over and underpaid</a:t>
            </a:r>
            <a:endParaRPr lang="en-US" sz="1500" dirty="0"/>
          </a:p>
        </p:txBody>
      </p:sp>
      <p:sp>
        <p:nvSpPr>
          <p:cNvPr id="6" name="Text 4"/>
          <p:cNvSpPr/>
          <p:nvPr/>
        </p:nvSpPr>
        <p:spPr>
          <a:xfrm>
            <a:off x="1572768" y="3200400"/>
            <a:ext cx="7223760" cy="365760"/>
          </a:xfrm>
          <a:prstGeom prst="rect">
            <a:avLst/>
          </a:prstGeom>
          <a:noFill/>
          <a:ln/>
        </p:spPr>
        <p:txBody>
          <a:bodyPr wrap="square" rtlCol="0" anchor="ctr"/>
          <a:lstStyle/>
          <a:p>
            <a:pPr marL="0" indent="0">
              <a:buNone/>
            </a:pPr>
            <a:r>
              <a:rPr lang="en-US" sz="1400" dirty="0">
                <a:solidFill>
                  <a:srgbClr val="CADCFC"/>
                </a:solidFill>
                <a:latin typeface="Calibri" pitchFamily="34" charset="0"/>
                <a:ea typeface="Calibri" pitchFamily="34" charset="-122"/>
                <a:cs typeface="Calibri" pitchFamily="34" charset="-120"/>
              </a:rPr>
              <a:t>Data Science Capstone  ·  Final Presentation</a:t>
            </a:r>
            <a:endParaRPr lang="en-US" sz="1400" dirty="0"/>
          </a:p>
        </p:txBody>
      </p:sp>
      <p:sp>
        <p:nvSpPr>
          <p:cNvPr id="7" name="Text 5"/>
          <p:cNvSpPr/>
          <p:nvPr/>
        </p:nvSpPr>
        <p:spPr>
          <a:xfrm>
            <a:off x="1572768" y="3566160"/>
            <a:ext cx="7223760" cy="365760"/>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Erik Babb  ·  July 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8229600" cy="640080"/>
          </a:xfrm>
          <a:prstGeom prst="rect">
            <a:avLst/>
          </a:prstGeom>
          <a:noFill/>
          <a:ln/>
        </p:spPr>
        <p:txBody>
          <a:bodyPr wrap="square"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Agenda</a:t>
            </a:r>
            <a:endParaRPr lang="en-US" sz="3000" dirty="0"/>
          </a:p>
        </p:txBody>
      </p:sp>
      <p:sp>
        <p:nvSpPr>
          <p:cNvPr id="3" name="Shape 1"/>
          <p:cNvSpPr/>
          <p:nvPr/>
        </p:nvSpPr>
        <p:spPr>
          <a:xfrm>
            <a:off x="548640" y="1234440"/>
            <a:ext cx="566928" cy="566928"/>
          </a:xfrm>
          <a:prstGeom prst="roundRect">
            <a:avLst>
              <a:gd name="adj" fmla="val 16129"/>
            </a:avLst>
          </a:prstGeom>
          <a:solidFill>
            <a:srgbClr val="1E2761"/>
          </a:solidFill>
          <a:ln/>
        </p:spPr>
        <p:txBody>
          <a:bodyPr/>
          <a:lstStyle/>
          <a:p>
            <a:endParaRPr lang="en-US"/>
          </a:p>
        </p:txBody>
      </p:sp>
      <p:sp>
        <p:nvSpPr>
          <p:cNvPr id="4" name="Text 2"/>
          <p:cNvSpPr/>
          <p:nvPr/>
        </p:nvSpPr>
        <p:spPr>
          <a:xfrm>
            <a:off x="548640" y="1234440"/>
            <a:ext cx="566928" cy="566928"/>
          </a:xfrm>
          <a:prstGeom prst="rect">
            <a:avLst/>
          </a:prstGeom>
          <a:noFill/>
          <a:ln/>
        </p:spPr>
        <p:txBody>
          <a:bodyPr wrap="square" rtlCol="0" anchor="ctr"/>
          <a:lstStyle/>
          <a:p>
            <a:pPr marL="0" indent="0" algn="ctr">
              <a:buNone/>
            </a:pPr>
            <a:r>
              <a:rPr lang="en-US" sz="1600" b="1" dirty="0">
                <a:solidFill>
                  <a:srgbClr val="E56020"/>
                </a:solidFill>
                <a:latin typeface="Cambria" pitchFamily="34" charset="0"/>
                <a:ea typeface="Cambria" pitchFamily="34" charset="-122"/>
                <a:cs typeface="Cambria" pitchFamily="34" charset="-120"/>
              </a:rPr>
              <a:t>01</a:t>
            </a:r>
            <a:endParaRPr lang="en-US" sz="1600" dirty="0"/>
          </a:p>
        </p:txBody>
      </p:sp>
      <p:sp>
        <p:nvSpPr>
          <p:cNvPr id="5" name="Text 3"/>
          <p:cNvSpPr/>
          <p:nvPr/>
        </p:nvSpPr>
        <p:spPr>
          <a:xfrm>
            <a:off x="1280160" y="1234440"/>
            <a:ext cx="3291840" cy="566928"/>
          </a:xfrm>
          <a:prstGeom prst="rect">
            <a:avLst/>
          </a:prstGeom>
          <a:noFill/>
          <a:ln/>
        </p:spPr>
        <p:txBody>
          <a:bodyPr wrap="square" rtlCol="0" anchor="ctr"/>
          <a:lstStyle/>
          <a:p>
            <a:pPr marL="0" indent="0">
              <a:buNone/>
            </a:pPr>
            <a:r>
              <a:rPr lang="en-US" sz="1600" b="1" dirty="0">
                <a:solidFill>
                  <a:srgbClr val="1A1A2E"/>
                </a:solidFill>
                <a:latin typeface="Calibri" pitchFamily="34" charset="0"/>
                <a:ea typeface="Calibri" pitchFamily="34" charset="-122"/>
                <a:cs typeface="Calibri" pitchFamily="34" charset="-120"/>
              </a:rPr>
              <a:t>Problem &amp; Context</a:t>
            </a:r>
            <a:endParaRPr lang="en-US" sz="1600" dirty="0"/>
          </a:p>
        </p:txBody>
      </p:sp>
      <p:sp>
        <p:nvSpPr>
          <p:cNvPr id="6" name="Shape 4"/>
          <p:cNvSpPr/>
          <p:nvPr/>
        </p:nvSpPr>
        <p:spPr>
          <a:xfrm>
            <a:off x="4846320" y="1234440"/>
            <a:ext cx="566928" cy="566928"/>
          </a:xfrm>
          <a:prstGeom prst="roundRect">
            <a:avLst>
              <a:gd name="adj" fmla="val 16129"/>
            </a:avLst>
          </a:prstGeom>
          <a:solidFill>
            <a:srgbClr val="1E2761"/>
          </a:solidFill>
          <a:ln/>
        </p:spPr>
        <p:txBody>
          <a:bodyPr/>
          <a:lstStyle/>
          <a:p>
            <a:endParaRPr lang="en-US"/>
          </a:p>
        </p:txBody>
      </p:sp>
      <p:sp>
        <p:nvSpPr>
          <p:cNvPr id="7" name="Text 5"/>
          <p:cNvSpPr/>
          <p:nvPr/>
        </p:nvSpPr>
        <p:spPr>
          <a:xfrm>
            <a:off x="4846320" y="1234440"/>
            <a:ext cx="566928" cy="566928"/>
          </a:xfrm>
          <a:prstGeom prst="rect">
            <a:avLst/>
          </a:prstGeom>
          <a:noFill/>
          <a:ln/>
        </p:spPr>
        <p:txBody>
          <a:bodyPr wrap="square" rtlCol="0" anchor="ctr"/>
          <a:lstStyle/>
          <a:p>
            <a:pPr marL="0" indent="0" algn="ctr">
              <a:buNone/>
            </a:pPr>
            <a:r>
              <a:rPr lang="en-US" sz="1600" b="1" dirty="0">
                <a:solidFill>
                  <a:srgbClr val="E56020"/>
                </a:solidFill>
                <a:latin typeface="Cambria" pitchFamily="34" charset="0"/>
                <a:ea typeface="Cambria" pitchFamily="34" charset="-122"/>
                <a:cs typeface="Cambria" pitchFamily="34" charset="-120"/>
              </a:rPr>
              <a:t>02</a:t>
            </a:r>
            <a:endParaRPr lang="en-US" sz="1600" dirty="0"/>
          </a:p>
        </p:txBody>
      </p:sp>
      <p:sp>
        <p:nvSpPr>
          <p:cNvPr id="8" name="Text 6"/>
          <p:cNvSpPr/>
          <p:nvPr/>
        </p:nvSpPr>
        <p:spPr>
          <a:xfrm>
            <a:off x="5577840" y="1234440"/>
            <a:ext cx="3291840" cy="566928"/>
          </a:xfrm>
          <a:prstGeom prst="rect">
            <a:avLst/>
          </a:prstGeom>
          <a:noFill/>
          <a:ln/>
        </p:spPr>
        <p:txBody>
          <a:bodyPr wrap="square" rtlCol="0" anchor="ctr"/>
          <a:lstStyle/>
          <a:p>
            <a:pPr marL="0" indent="0">
              <a:buNone/>
            </a:pPr>
            <a:r>
              <a:rPr lang="en-US" sz="1600" b="1" dirty="0">
                <a:solidFill>
                  <a:srgbClr val="1A1A2E"/>
                </a:solidFill>
                <a:latin typeface="Calibri" pitchFamily="34" charset="0"/>
                <a:ea typeface="Calibri" pitchFamily="34" charset="-122"/>
                <a:cs typeface="Calibri" pitchFamily="34" charset="-120"/>
              </a:rPr>
              <a:t>Data &amp; Approach</a:t>
            </a:r>
            <a:endParaRPr lang="en-US" sz="1600" dirty="0"/>
          </a:p>
        </p:txBody>
      </p:sp>
      <p:sp>
        <p:nvSpPr>
          <p:cNvPr id="9" name="Shape 7"/>
          <p:cNvSpPr/>
          <p:nvPr/>
        </p:nvSpPr>
        <p:spPr>
          <a:xfrm>
            <a:off x="548640" y="2075688"/>
            <a:ext cx="566928" cy="566928"/>
          </a:xfrm>
          <a:prstGeom prst="roundRect">
            <a:avLst>
              <a:gd name="adj" fmla="val 16129"/>
            </a:avLst>
          </a:prstGeom>
          <a:solidFill>
            <a:srgbClr val="1E2761"/>
          </a:solidFill>
          <a:ln/>
        </p:spPr>
        <p:txBody>
          <a:bodyPr/>
          <a:lstStyle/>
          <a:p>
            <a:endParaRPr lang="en-US"/>
          </a:p>
        </p:txBody>
      </p:sp>
      <p:sp>
        <p:nvSpPr>
          <p:cNvPr id="10" name="Text 8"/>
          <p:cNvSpPr/>
          <p:nvPr/>
        </p:nvSpPr>
        <p:spPr>
          <a:xfrm>
            <a:off x="548640" y="2075688"/>
            <a:ext cx="566928" cy="566928"/>
          </a:xfrm>
          <a:prstGeom prst="rect">
            <a:avLst/>
          </a:prstGeom>
          <a:noFill/>
          <a:ln/>
        </p:spPr>
        <p:txBody>
          <a:bodyPr wrap="square" rtlCol="0" anchor="ctr"/>
          <a:lstStyle/>
          <a:p>
            <a:pPr marL="0" indent="0" algn="ctr">
              <a:buNone/>
            </a:pPr>
            <a:r>
              <a:rPr lang="en-US" sz="1600" b="1" dirty="0">
                <a:solidFill>
                  <a:srgbClr val="E56020"/>
                </a:solidFill>
                <a:latin typeface="Cambria" pitchFamily="34" charset="0"/>
                <a:ea typeface="Cambria" pitchFamily="34" charset="-122"/>
                <a:cs typeface="Cambria" pitchFamily="34" charset="-120"/>
              </a:rPr>
              <a:t>03</a:t>
            </a:r>
            <a:endParaRPr lang="en-US" sz="1600" dirty="0"/>
          </a:p>
        </p:txBody>
      </p:sp>
      <p:sp>
        <p:nvSpPr>
          <p:cNvPr id="11" name="Text 9"/>
          <p:cNvSpPr/>
          <p:nvPr/>
        </p:nvSpPr>
        <p:spPr>
          <a:xfrm>
            <a:off x="1280160" y="2075688"/>
            <a:ext cx="3291840" cy="566928"/>
          </a:xfrm>
          <a:prstGeom prst="rect">
            <a:avLst/>
          </a:prstGeom>
          <a:noFill/>
          <a:ln/>
        </p:spPr>
        <p:txBody>
          <a:bodyPr wrap="square" rtlCol="0" anchor="ctr"/>
          <a:lstStyle/>
          <a:p>
            <a:pPr marL="0" indent="0">
              <a:buNone/>
            </a:pPr>
            <a:r>
              <a:rPr lang="en-US" sz="1600" b="1" dirty="0">
                <a:solidFill>
                  <a:srgbClr val="1A1A2E"/>
                </a:solidFill>
                <a:latin typeface="Calibri" pitchFamily="34" charset="0"/>
                <a:ea typeface="Calibri" pitchFamily="34" charset="-122"/>
                <a:cs typeface="Calibri" pitchFamily="34" charset="-120"/>
              </a:rPr>
              <a:t>Data Wrangling</a:t>
            </a:r>
            <a:endParaRPr lang="en-US" sz="1600" dirty="0"/>
          </a:p>
        </p:txBody>
      </p:sp>
      <p:sp>
        <p:nvSpPr>
          <p:cNvPr id="12" name="Shape 10"/>
          <p:cNvSpPr/>
          <p:nvPr/>
        </p:nvSpPr>
        <p:spPr>
          <a:xfrm>
            <a:off x="4846320" y="2075688"/>
            <a:ext cx="566928" cy="566928"/>
          </a:xfrm>
          <a:prstGeom prst="roundRect">
            <a:avLst>
              <a:gd name="adj" fmla="val 16129"/>
            </a:avLst>
          </a:prstGeom>
          <a:solidFill>
            <a:srgbClr val="1E2761"/>
          </a:solidFill>
          <a:ln/>
        </p:spPr>
        <p:txBody>
          <a:bodyPr/>
          <a:lstStyle/>
          <a:p>
            <a:endParaRPr lang="en-US"/>
          </a:p>
        </p:txBody>
      </p:sp>
      <p:sp>
        <p:nvSpPr>
          <p:cNvPr id="13" name="Text 11"/>
          <p:cNvSpPr/>
          <p:nvPr/>
        </p:nvSpPr>
        <p:spPr>
          <a:xfrm>
            <a:off x="4846320" y="2075688"/>
            <a:ext cx="566928" cy="566928"/>
          </a:xfrm>
          <a:prstGeom prst="rect">
            <a:avLst/>
          </a:prstGeom>
          <a:noFill/>
          <a:ln/>
        </p:spPr>
        <p:txBody>
          <a:bodyPr wrap="square" rtlCol="0" anchor="ctr"/>
          <a:lstStyle/>
          <a:p>
            <a:pPr marL="0" indent="0" algn="ctr">
              <a:buNone/>
            </a:pPr>
            <a:r>
              <a:rPr lang="en-US" sz="1600" b="1" dirty="0">
                <a:solidFill>
                  <a:srgbClr val="E56020"/>
                </a:solidFill>
                <a:latin typeface="Cambria" pitchFamily="34" charset="0"/>
                <a:ea typeface="Cambria" pitchFamily="34" charset="-122"/>
                <a:cs typeface="Cambria" pitchFamily="34" charset="-120"/>
              </a:rPr>
              <a:t>04</a:t>
            </a:r>
            <a:endParaRPr lang="en-US" sz="1600" dirty="0"/>
          </a:p>
        </p:txBody>
      </p:sp>
      <p:sp>
        <p:nvSpPr>
          <p:cNvPr id="14" name="Text 12"/>
          <p:cNvSpPr/>
          <p:nvPr/>
        </p:nvSpPr>
        <p:spPr>
          <a:xfrm>
            <a:off x="5577840" y="2075688"/>
            <a:ext cx="3291840" cy="566928"/>
          </a:xfrm>
          <a:prstGeom prst="rect">
            <a:avLst/>
          </a:prstGeom>
          <a:noFill/>
          <a:ln/>
        </p:spPr>
        <p:txBody>
          <a:bodyPr wrap="square" rtlCol="0" anchor="ctr"/>
          <a:lstStyle/>
          <a:p>
            <a:pPr marL="0" indent="0">
              <a:buNone/>
            </a:pPr>
            <a:r>
              <a:rPr lang="en-US" sz="1600" b="1" dirty="0">
                <a:solidFill>
                  <a:srgbClr val="1A1A2E"/>
                </a:solidFill>
                <a:latin typeface="Calibri" pitchFamily="34" charset="0"/>
                <a:ea typeface="Calibri" pitchFamily="34" charset="-122"/>
                <a:cs typeface="Calibri" pitchFamily="34" charset="-120"/>
              </a:rPr>
              <a:t>Exploratory Analysis</a:t>
            </a:r>
            <a:endParaRPr lang="en-US" sz="1600" dirty="0"/>
          </a:p>
        </p:txBody>
      </p:sp>
      <p:sp>
        <p:nvSpPr>
          <p:cNvPr id="15" name="Shape 13"/>
          <p:cNvSpPr/>
          <p:nvPr/>
        </p:nvSpPr>
        <p:spPr>
          <a:xfrm>
            <a:off x="548640" y="2916936"/>
            <a:ext cx="566928" cy="566928"/>
          </a:xfrm>
          <a:prstGeom prst="roundRect">
            <a:avLst>
              <a:gd name="adj" fmla="val 16129"/>
            </a:avLst>
          </a:prstGeom>
          <a:solidFill>
            <a:srgbClr val="1E2761"/>
          </a:solidFill>
          <a:ln/>
        </p:spPr>
        <p:txBody>
          <a:bodyPr/>
          <a:lstStyle/>
          <a:p>
            <a:endParaRPr lang="en-US"/>
          </a:p>
        </p:txBody>
      </p:sp>
      <p:sp>
        <p:nvSpPr>
          <p:cNvPr id="16" name="Text 14"/>
          <p:cNvSpPr/>
          <p:nvPr/>
        </p:nvSpPr>
        <p:spPr>
          <a:xfrm>
            <a:off x="548640" y="2916936"/>
            <a:ext cx="566928" cy="566928"/>
          </a:xfrm>
          <a:prstGeom prst="rect">
            <a:avLst/>
          </a:prstGeom>
          <a:noFill/>
          <a:ln/>
        </p:spPr>
        <p:txBody>
          <a:bodyPr wrap="square" rtlCol="0" anchor="ctr"/>
          <a:lstStyle/>
          <a:p>
            <a:pPr marL="0" indent="0" algn="ctr">
              <a:buNone/>
            </a:pPr>
            <a:r>
              <a:rPr lang="en-US" sz="1600" b="1" dirty="0">
                <a:solidFill>
                  <a:srgbClr val="E56020"/>
                </a:solidFill>
                <a:latin typeface="Cambria" pitchFamily="34" charset="0"/>
                <a:ea typeface="Cambria" pitchFamily="34" charset="-122"/>
                <a:cs typeface="Cambria" pitchFamily="34" charset="-120"/>
              </a:rPr>
              <a:t>05</a:t>
            </a:r>
            <a:endParaRPr lang="en-US" sz="1600" dirty="0"/>
          </a:p>
        </p:txBody>
      </p:sp>
      <p:sp>
        <p:nvSpPr>
          <p:cNvPr id="17" name="Text 15"/>
          <p:cNvSpPr/>
          <p:nvPr/>
        </p:nvSpPr>
        <p:spPr>
          <a:xfrm>
            <a:off x="1280160" y="2916936"/>
            <a:ext cx="3291840" cy="566928"/>
          </a:xfrm>
          <a:prstGeom prst="rect">
            <a:avLst/>
          </a:prstGeom>
          <a:noFill/>
          <a:ln/>
        </p:spPr>
        <p:txBody>
          <a:bodyPr wrap="square" rtlCol="0" anchor="ctr"/>
          <a:lstStyle/>
          <a:p>
            <a:pPr marL="0" indent="0">
              <a:buNone/>
            </a:pPr>
            <a:r>
              <a:rPr lang="en-US" sz="1600" b="1" dirty="0">
                <a:solidFill>
                  <a:srgbClr val="1A1A2E"/>
                </a:solidFill>
                <a:latin typeface="Calibri" pitchFamily="34" charset="0"/>
                <a:ea typeface="Calibri" pitchFamily="34" charset="-122"/>
                <a:cs typeface="Calibri" pitchFamily="34" charset="-120"/>
              </a:rPr>
              <a:t>Player Archetypes</a:t>
            </a:r>
            <a:endParaRPr lang="en-US" sz="1600" dirty="0"/>
          </a:p>
        </p:txBody>
      </p:sp>
      <p:sp>
        <p:nvSpPr>
          <p:cNvPr id="18" name="Shape 16"/>
          <p:cNvSpPr/>
          <p:nvPr/>
        </p:nvSpPr>
        <p:spPr>
          <a:xfrm>
            <a:off x="4846320" y="2916936"/>
            <a:ext cx="566928" cy="566928"/>
          </a:xfrm>
          <a:prstGeom prst="roundRect">
            <a:avLst>
              <a:gd name="adj" fmla="val 16129"/>
            </a:avLst>
          </a:prstGeom>
          <a:solidFill>
            <a:srgbClr val="1E2761"/>
          </a:solidFill>
          <a:ln/>
        </p:spPr>
        <p:txBody>
          <a:bodyPr/>
          <a:lstStyle/>
          <a:p>
            <a:endParaRPr lang="en-US"/>
          </a:p>
        </p:txBody>
      </p:sp>
      <p:sp>
        <p:nvSpPr>
          <p:cNvPr id="19" name="Text 17"/>
          <p:cNvSpPr/>
          <p:nvPr/>
        </p:nvSpPr>
        <p:spPr>
          <a:xfrm>
            <a:off x="4846320" y="2916936"/>
            <a:ext cx="566928" cy="566928"/>
          </a:xfrm>
          <a:prstGeom prst="rect">
            <a:avLst/>
          </a:prstGeom>
          <a:noFill/>
          <a:ln/>
        </p:spPr>
        <p:txBody>
          <a:bodyPr wrap="square" rtlCol="0" anchor="ctr"/>
          <a:lstStyle/>
          <a:p>
            <a:pPr marL="0" indent="0" algn="ctr">
              <a:buNone/>
            </a:pPr>
            <a:r>
              <a:rPr lang="en-US" sz="1600" b="1" dirty="0">
                <a:solidFill>
                  <a:srgbClr val="E56020"/>
                </a:solidFill>
                <a:latin typeface="Cambria" pitchFamily="34" charset="0"/>
                <a:ea typeface="Cambria" pitchFamily="34" charset="-122"/>
                <a:cs typeface="Cambria" pitchFamily="34" charset="-120"/>
              </a:rPr>
              <a:t>06</a:t>
            </a:r>
            <a:endParaRPr lang="en-US" sz="1600" dirty="0"/>
          </a:p>
        </p:txBody>
      </p:sp>
      <p:sp>
        <p:nvSpPr>
          <p:cNvPr id="20" name="Text 18"/>
          <p:cNvSpPr/>
          <p:nvPr/>
        </p:nvSpPr>
        <p:spPr>
          <a:xfrm>
            <a:off x="5577840" y="2916936"/>
            <a:ext cx="3291840" cy="566928"/>
          </a:xfrm>
          <a:prstGeom prst="rect">
            <a:avLst/>
          </a:prstGeom>
          <a:noFill/>
          <a:ln/>
        </p:spPr>
        <p:txBody>
          <a:bodyPr wrap="square" rtlCol="0" anchor="ctr"/>
          <a:lstStyle/>
          <a:p>
            <a:pPr marL="0" indent="0">
              <a:buNone/>
            </a:pPr>
            <a:r>
              <a:rPr lang="en-US" sz="1600" b="1" dirty="0">
                <a:solidFill>
                  <a:srgbClr val="1A1A2E"/>
                </a:solidFill>
                <a:latin typeface="Calibri" pitchFamily="34" charset="0"/>
                <a:ea typeface="Calibri" pitchFamily="34" charset="-122"/>
                <a:cs typeface="Calibri" pitchFamily="34" charset="-120"/>
              </a:rPr>
              <a:t>Modeling</a:t>
            </a:r>
            <a:endParaRPr lang="en-US" sz="1600" dirty="0"/>
          </a:p>
        </p:txBody>
      </p:sp>
      <p:sp>
        <p:nvSpPr>
          <p:cNvPr id="21" name="Shape 19"/>
          <p:cNvSpPr/>
          <p:nvPr/>
        </p:nvSpPr>
        <p:spPr>
          <a:xfrm>
            <a:off x="548640" y="3758184"/>
            <a:ext cx="566928" cy="566928"/>
          </a:xfrm>
          <a:prstGeom prst="roundRect">
            <a:avLst>
              <a:gd name="adj" fmla="val 16129"/>
            </a:avLst>
          </a:prstGeom>
          <a:solidFill>
            <a:srgbClr val="1E2761"/>
          </a:solidFill>
          <a:ln/>
        </p:spPr>
        <p:txBody>
          <a:bodyPr/>
          <a:lstStyle/>
          <a:p>
            <a:endParaRPr lang="en-US"/>
          </a:p>
        </p:txBody>
      </p:sp>
      <p:sp>
        <p:nvSpPr>
          <p:cNvPr id="22" name="Text 20"/>
          <p:cNvSpPr/>
          <p:nvPr/>
        </p:nvSpPr>
        <p:spPr>
          <a:xfrm>
            <a:off x="548640" y="3758184"/>
            <a:ext cx="566928" cy="566928"/>
          </a:xfrm>
          <a:prstGeom prst="rect">
            <a:avLst/>
          </a:prstGeom>
          <a:noFill/>
          <a:ln/>
        </p:spPr>
        <p:txBody>
          <a:bodyPr wrap="square" rtlCol="0" anchor="ctr"/>
          <a:lstStyle/>
          <a:p>
            <a:pPr marL="0" indent="0" algn="ctr">
              <a:buNone/>
            </a:pPr>
            <a:r>
              <a:rPr lang="en-US" sz="1600" b="1" dirty="0">
                <a:solidFill>
                  <a:srgbClr val="E56020"/>
                </a:solidFill>
                <a:latin typeface="Cambria" pitchFamily="34" charset="0"/>
                <a:ea typeface="Cambria" pitchFamily="34" charset="-122"/>
                <a:cs typeface="Cambria" pitchFamily="34" charset="-120"/>
              </a:rPr>
              <a:t>07</a:t>
            </a:r>
            <a:endParaRPr lang="en-US" sz="1600" dirty="0"/>
          </a:p>
        </p:txBody>
      </p:sp>
      <p:sp>
        <p:nvSpPr>
          <p:cNvPr id="23" name="Text 21"/>
          <p:cNvSpPr/>
          <p:nvPr/>
        </p:nvSpPr>
        <p:spPr>
          <a:xfrm>
            <a:off x="1280160" y="3758184"/>
            <a:ext cx="3291840" cy="566928"/>
          </a:xfrm>
          <a:prstGeom prst="rect">
            <a:avLst/>
          </a:prstGeom>
          <a:noFill/>
          <a:ln/>
        </p:spPr>
        <p:txBody>
          <a:bodyPr wrap="square" rtlCol="0" anchor="ctr"/>
          <a:lstStyle/>
          <a:p>
            <a:pPr marL="0" indent="0">
              <a:buNone/>
            </a:pPr>
            <a:r>
              <a:rPr lang="en-US" sz="1600" b="1" dirty="0">
                <a:solidFill>
                  <a:srgbClr val="1A1A2E"/>
                </a:solidFill>
                <a:latin typeface="Calibri" pitchFamily="34" charset="0"/>
                <a:ea typeface="Calibri" pitchFamily="34" charset="-122"/>
                <a:cs typeface="Calibri" pitchFamily="34" charset="-120"/>
              </a:rPr>
              <a:t>Feature Importance &amp; Value</a:t>
            </a:r>
            <a:endParaRPr lang="en-US" sz="1600" dirty="0"/>
          </a:p>
        </p:txBody>
      </p:sp>
      <p:sp>
        <p:nvSpPr>
          <p:cNvPr id="24" name="Shape 22"/>
          <p:cNvSpPr/>
          <p:nvPr/>
        </p:nvSpPr>
        <p:spPr>
          <a:xfrm>
            <a:off x="4846320" y="3758184"/>
            <a:ext cx="566928" cy="566928"/>
          </a:xfrm>
          <a:prstGeom prst="roundRect">
            <a:avLst>
              <a:gd name="adj" fmla="val 16129"/>
            </a:avLst>
          </a:prstGeom>
          <a:solidFill>
            <a:srgbClr val="1E2761"/>
          </a:solidFill>
          <a:ln/>
        </p:spPr>
        <p:txBody>
          <a:bodyPr/>
          <a:lstStyle/>
          <a:p>
            <a:endParaRPr lang="en-US"/>
          </a:p>
        </p:txBody>
      </p:sp>
      <p:sp>
        <p:nvSpPr>
          <p:cNvPr id="25" name="Text 23"/>
          <p:cNvSpPr/>
          <p:nvPr/>
        </p:nvSpPr>
        <p:spPr>
          <a:xfrm>
            <a:off x="4846320" y="3758184"/>
            <a:ext cx="566928" cy="566928"/>
          </a:xfrm>
          <a:prstGeom prst="rect">
            <a:avLst/>
          </a:prstGeom>
          <a:noFill/>
          <a:ln/>
        </p:spPr>
        <p:txBody>
          <a:bodyPr wrap="square" rtlCol="0" anchor="ctr"/>
          <a:lstStyle/>
          <a:p>
            <a:pPr marL="0" indent="0" algn="ctr">
              <a:buNone/>
            </a:pPr>
            <a:r>
              <a:rPr lang="en-US" sz="1600" b="1" dirty="0">
                <a:solidFill>
                  <a:srgbClr val="E56020"/>
                </a:solidFill>
                <a:latin typeface="Cambria" pitchFamily="34" charset="0"/>
                <a:ea typeface="Cambria" pitchFamily="34" charset="-122"/>
                <a:cs typeface="Cambria" pitchFamily="34" charset="-120"/>
              </a:rPr>
              <a:t>08</a:t>
            </a:r>
            <a:endParaRPr lang="en-US" sz="1600" dirty="0"/>
          </a:p>
        </p:txBody>
      </p:sp>
      <p:sp>
        <p:nvSpPr>
          <p:cNvPr id="26" name="Text 24"/>
          <p:cNvSpPr/>
          <p:nvPr/>
        </p:nvSpPr>
        <p:spPr>
          <a:xfrm>
            <a:off x="5577840" y="3758184"/>
            <a:ext cx="3291840" cy="566928"/>
          </a:xfrm>
          <a:prstGeom prst="rect">
            <a:avLst/>
          </a:prstGeom>
          <a:noFill/>
          <a:ln/>
        </p:spPr>
        <p:txBody>
          <a:bodyPr wrap="square" rtlCol="0" anchor="ctr"/>
          <a:lstStyle/>
          <a:p>
            <a:pPr marL="0" indent="0">
              <a:buNone/>
            </a:pPr>
            <a:r>
              <a:rPr lang="en-US" sz="1600" b="1" dirty="0">
                <a:solidFill>
                  <a:srgbClr val="1A1A2E"/>
                </a:solidFill>
                <a:latin typeface="Calibri" pitchFamily="34" charset="0"/>
                <a:ea typeface="Calibri" pitchFamily="34" charset="-122"/>
                <a:cs typeface="Calibri" pitchFamily="34" charset="-120"/>
              </a:rPr>
              <a:t>Recommendations</a:t>
            </a:r>
            <a:endParaRPr lang="en-US" sz="1600" dirty="0"/>
          </a:p>
        </p:txBody>
      </p:sp>
      <p:sp>
        <p:nvSpPr>
          <p:cNvPr id="27" name="Text 25"/>
          <p:cNvSpPr/>
          <p:nvPr/>
        </p:nvSpPr>
        <p:spPr>
          <a:xfrm>
            <a:off x="8549640" y="4709160"/>
            <a:ext cx="365760" cy="274320"/>
          </a:xfrm>
          <a:prstGeom prst="rect">
            <a:avLst/>
          </a:prstGeom>
          <a:noFill/>
          <a:ln/>
        </p:spPr>
        <p:txBody>
          <a:bodyPr wrap="square" rtlCol="0" anchor="ctr"/>
          <a:lstStyle/>
          <a:p>
            <a:pPr marL="0" indent="0" algn="r">
              <a:buNone/>
            </a:pPr>
            <a:r>
              <a:rPr lang="en-US" sz="1000" dirty="0">
                <a:solidFill>
                  <a:srgbClr val="6B7280"/>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8229600" cy="640080"/>
          </a:xfrm>
          <a:prstGeom prst="rect">
            <a:avLst/>
          </a:prstGeom>
          <a:noFill/>
          <a:ln/>
        </p:spPr>
        <p:txBody>
          <a:bodyPr wrap="square"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Problem &amp; Context</a:t>
            </a:r>
            <a:endParaRPr lang="en-US" sz="3000" dirty="0"/>
          </a:p>
        </p:txBody>
      </p:sp>
      <p:sp>
        <p:nvSpPr>
          <p:cNvPr id="3" name="Shape 1"/>
          <p:cNvSpPr/>
          <p:nvPr/>
        </p:nvSpPr>
        <p:spPr>
          <a:xfrm>
            <a:off x="457200" y="1143000"/>
            <a:ext cx="8229600" cy="960120"/>
          </a:xfrm>
          <a:prstGeom prst="roundRect">
            <a:avLst>
              <a:gd name="adj" fmla="val 5714"/>
            </a:avLst>
          </a:prstGeom>
          <a:solidFill>
            <a:srgbClr val="EEF2FB"/>
          </a:solidFill>
          <a:ln/>
          <a:effectLst>
            <a:outerShdw blurRad="76200" dist="25400" dir="5400000" algn="bl" rotWithShape="0">
              <a:srgbClr val="B8C0D0">
                <a:alpha val="50000"/>
              </a:srgbClr>
            </a:outerShdw>
          </a:effectLst>
        </p:spPr>
        <p:txBody>
          <a:bodyPr/>
          <a:lstStyle/>
          <a:p>
            <a:endParaRPr lang="en-US"/>
          </a:p>
        </p:txBody>
      </p:sp>
      <p:sp>
        <p:nvSpPr>
          <p:cNvPr id="4" name="Text 2"/>
          <p:cNvSpPr/>
          <p:nvPr/>
        </p:nvSpPr>
        <p:spPr>
          <a:xfrm>
            <a:off x="685800" y="1234440"/>
            <a:ext cx="7772400" cy="777240"/>
          </a:xfrm>
          <a:prstGeom prst="rect">
            <a:avLst/>
          </a:prstGeom>
          <a:noFill/>
          <a:ln/>
        </p:spPr>
        <p:txBody>
          <a:bodyPr wrap="square" rtlCol="0" anchor="ctr"/>
          <a:lstStyle/>
          <a:p>
            <a:pPr marL="0" indent="0">
              <a:buNone/>
            </a:pPr>
            <a:r>
              <a:rPr lang="en-US" sz="1700" b="1" i="1" dirty="0">
                <a:solidFill>
                  <a:srgbClr val="1E2761"/>
                </a:solidFill>
                <a:latin typeface="Cambria" pitchFamily="34" charset="0"/>
                <a:ea typeface="Cambria" pitchFamily="34" charset="-122"/>
                <a:cs typeface="Cambria" pitchFamily="34" charset="-120"/>
              </a:rPr>
              <a:t>How well can an NBA player’s salary be predicted from measurable production, and which players fall furthest from their predicted value?</a:t>
            </a:r>
            <a:endParaRPr lang="en-US" sz="1700" dirty="0"/>
          </a:p>
        </p:txBody>
      </p:sp>
      <p:sp>
        <p:nvSpPr>
          <p:cNvPr id="5" name="Shape 3"/>
          <p:cNvSpPr/>
          <p:nvPr/>
        </p:nvSpPr>
        <p:spPr>
          <a:xfrm>
            <a:off x="457200" y="2331720"/>
            <a:ext cx="3977640" cy="1051560"/>
          </a:xfrm>
          <a:prstGeom prst="roundRect">
            <a:avLst>
              <a:gd name="adj" fmla="val 5217"/>
            </a:avLst>
          </a:prstGeom>
          <a:solidFill>
            <a:srgbClr val="FFFFFF"/>
          </a:solidFill>
          <a:ln/>
          <a:effectLst>
            <a:outerShdw blurRad="76200" dist="25400" dir="5400000" algn="bl" rotWithShape="0">
              <a:srgbClr val="B8C0D0">
                <a:alpha val="50000"/>
              </a:srgbClr>
            </a:outerShdw>
          </a:effectLst>
        </p:spPr>
        <p:txBody>
          <a:bodyPr/>
          <a:lstStyle/>
          <a:p>
            <a:endParaRPr lang="en-US"/>
          </a:p>
        </p:txBody>
      </p:sp>
      <p:sp>
        <p:nvSpPr>
          <p:cNvPr id="6" name="Text 4"/>
          <p:cNvSpPr/>
          <p:nvPr/>
        </p:nvSpPr>
        <p:spPr>
          <a:xfrm>
            <a:off x="640080" y="2441448"/>
            <a:ext cx="3657600" cy="274320"/>
          </a:xfrm>
          <a:prstGeom prst="rect">
            <a:avLst/>
          </a:prstGeom>
          <a:noFill/>
          <a:ln/>
        </p:spPr>
        <p:txBody>
          <a:bodyPr wrap="square" rtlCol="0" anchor="ctr"/>
          <a:lstStyle/>
          <a:p>
            <a:pPr marL="0" indent="0">
              <a:buNone/>
            </a:pPr>
            <a:r>
              <a:rPr lang="en-US" sz="1400" b="1" dirty="0">
                <a:solidFill>
                  <a:srgbClr val="E56020"/>
                </a:solidFill>
                <a:latin typeface="Calibri" pitchFamily="34" charset="0"/>
                <a:ea typeface="Calibri" pitchFamily="34" charset="-122"/>
                <a:cs typeface="Calibri" pitchFamily="34" charset="-120"/>
              </a:rPr>
              <a:t>Context</a:t>
            </a:r>
            <a:endParaRPr lang="en-US" sz="1400" dirty="0"/>
          </a:p>
        </p:txBody>
      </p:sp>
      <p:sp>
        <p:nvSpPr>
          <p:cNvPr id="7" name="Text 5"/>
          <p:cNvSpPr/>
          <p:nvPr/>
        </p:nvSpPr>
        <p:spPr>
          <a:xfrm>
            <a:off x="640080" y="2743200"/>
            <a:ext cx="3639312" cy="566928"/>
          </a:xfrm>
          <a:prstGeom prst="rect">
            <a:avLst/>
          </a:prstGeom>
          <a:noFill/>
          <a:ln/>
        </p:spPr>
        <p:txBody>
          <a:bodyPr wrap="square" rtlCol="0" anchor="ctr"/>
          <a:lstStyle/>
          <a:p>
            <a:pPr marL="0" indent="0">
              <a:buNone/>
            </a:pPr>
            <a:r>
              <a:rPr lang="en-US" sz="1200" dirty="0">
                <a:solidFill>
                  <a:srgbClr val="1A1A2E"/>
                </a:solidFill>
                <a:latin typeface="Calibri" pitchFamily="34" charset="0"/>
                <a:ea typeface="Calibri" pitchFamily="34" charset="-122"/>
                <a:cs typeface="Calibri" pitchFamily="34" charset="-120"/>
              </a:rPr>
              <a:t>Teams operate under a hard salary cap, so every dollar spent on one player is unavailable for another</a:t>
            </a:r>
            <a:endParaRPr lang="en-US" sz="1200" dirty="0"/>
          </a:p>
        </p:txBody>
      </p:sp>
      <p:sp>
        <p:nvSpPr>
          <p:cNvPr id="8" name="Shape 6"/>
          <p:cNvSpPr/>
          <p:nvPr/>
        </p:nvSpPr>
        <p:spPr>
          <a:xfrm>
            <a:off x="4663440" y="2331720"/>
            <a:ext cx="3977640" cy="1051560"/>
          </a:xfrm>
          <a:prstGeom prst="roundRect">
            <a:avLst>
              <a:gd name="adj" fmla="val 5217"/>
            </a:avLst>
          </a:prstGeom>
          <a:solidFill>
            <a:srgbClr val="FFFFFF"/>
          </a:solidFill>
          <a:ln/>
          <a:effectLst>
            <a:outerShdw blurRad="76200" dist="25400" dir="5400000" algn="bl" rotWithShape="0">
              <a:srgbClr val="B8C0D0">
                <a:alpha val="50000"/>
              </a:srgbClr>
            </a:outerShdw>
          </a:effectLst>
        </p:spPr>
        <p:txBody>
          <a:bodyPr/>
          <a:lstStyle/>
          <a:p>
            <a:endParaRPr lang="en-US"/>
          </a:p>
        </p:txBody>
      </p:sp>
      <p:sp>
        <p:nvSpPr>
          <p:cNvPr id="9" name="Text 7"/>
          <p:cNvSpPr/>
          <p:nvPr/>
        </p:nvSpPr>
        <p:spPr>
          <a:xfrm>
            <a:off x="4846320" y="2441448"/>
            <a:ext cx="3657600" cy="274320"/>
          </a:xfrm>
          <a:prstGeom prst="rect">
            <a:avLst/>
          </a:prstGeom>
          <a:noFill/>
          <a:ln/>
        </p:spPr>
        <p:txBody>
          <a:bodyPr wrap="square" rtlCol="0" anchor="ctr"/>
          <a:lstStyle/>
          <a:p>
            <a:pPr marL="0" indent="0">
              <a:buNone/>
            </a:pPr>
            <a:r>
              <a:rPr lang="en-US" sz="1400" b="1" dirty="0">
                <a:solidFill>
                  <a:srgbClr val="E56020"/>
                </a:solidFill>
                <a:latin typeface="Calibri" pitchFamily="34" charset="0"/>
                <a:ea typeface="Calibri" pitchFamily="34" charset="-122"/>
                <a:cs typeface="Calibri" pitchFamily="34" charset="-120"/>
              </a:rPr>
              <a:t>Success metric</a:t>
            </a:r>
            <a:endParaRPr lang="en-US" sz="1400" dirty="0"/>
          </a:p>
        </p:txBody>
      </p:sp>
      <p:sp>
        <p:nvSpPr>
          <p:cNvPr id="10" name="Text 8"/>
          <p:cNvSpPr/>
          <p:nvPr/>
        </p:nvSpPr>
        <p:spPr>
          <a:xfrm>
            <a:off x="4846320" y="2743200"/>
            <a:ext cx="3639312" cy="566928"/>
          </a:xfrm>
          <a:prstGeom prst="rect">
            <a:avLst/>
          </a:prstGeom>
          <a:noFill/>
          <a:ln/>
        </p:spPr>
        <p:txBody>
          <a:bodyPr wrap="square" rtlCol="0" anchor="ctr"/>
          <a:lstStyle/>
          <a:p>
            <a:pPr marL="0" indent="0">
              <a:buNone/>
            </a:pPr>
            <a:r>
              <a:rPr lang="en-US" sz="1200" dirty="0">
                <a:solidFill>
                  <a:srgbClr val="1A1A2E"/>
                </a:solidFill>
                <a:latin typeface="Calibri" pitchFamily="34" charset="0"/>
                <a:ea typeface="Calibri" pitchFamily="34" charset="-122"/>
                <a:cs typeface="Calibri" pitchFamily="34" charset="-120"/>
              </a:rPr>
              <a:t>A model that predicts log salary well and surfaces clear over and underpaid players</a:t>
            </a:r>
            <a:endParaRPr lang="en-US" sz="1200" dirty="0"/>
          </a:p>
        </p:txBody>
      </p:sp>
      <p:sp>
        <p:nvSpPr>
          <p:cNvPr id="11" name="Shape 9"/>
          <p:cNvSpPr/>
          <p:nvPr/>
        </p:nvSpPr>
        <p:spPr>
          <a:xfrm>
            <a:off x="457200" y="3502152"/>
            <a:ext cx="3977640" cy="1051560"/>
          </a:xfrm>
          <a:prstGeom prst="roundRect">
            <a:avLst>
              <a:gd name="adj" fmla="val 5217"/>
            </a:avLst>
          </a:prstGeom>
          <a:solidFill>
            <a:srgbClr val="FFFFFF"/>
          </a:solidFill>
          <a:ln/>
          <a:effectLst>
            <a:outerShdw blurRad="76200" dist="25400" dir="5400000" algn="bl" rotWithShape="0">
              <a:srgbClr val="B8C0D0">
                <a:alpha val="50000"/>
              </a:srgbClr>
            </a:outerShdw>
          </a:effectLst>
        </p:spPr>
        <p:txBody>
          <a:bodyPr/>
          <a:lstStyle/>
          <a:p>
            <a:endParaRPr lang="en-US"/>
          </a:p>
        </p:txBody>
      </p:sp>
      <p:sp>
        <p:nvSpPr>
          <p:cNvPr id="12" name="Text 10"/>
          <p:cNvSpPr/>
          <p:nvPr/>
        </p:nvSpPr>
        <p:spPr>
          <a:xfrm>
            <a:off x="640080" y="3611880"/>
            <a:ext cx="3657600" cy="274320"/>
          </a:xfrm>
          <a:prstGeom prst="rect">
            <a:avLst/>
          </a:prstGeom>
          <a:noFill/>
          <a:ln/>
        </p:spPr>
        <p:txBody>
          <a:bodyPr wrap="square" rtlCol="0" anchor="ctr"/>
          <a:lstStyle/>
          <a:p>
            <a:pPr marL="0" indent="0">
              <a:buNone/>
            </a:pPr>
            <a:r>
              <a:rPr lang="en-US" sz="1400" b="1" dirty="0">
                <a:solidFill>
                  <a:srgbClr val="E56020"/>
                </a:solidFill>
                <a:latin typeface="Calibri" pitchFamily="34" charset="0"/>
                <a:ea typeface="Calibri" pitchFamily="34" charset="-122"/>
                <a:cs typeface="Calibri" pitchFamily="34" charset="-120"/>
              </a:rPr>
              <a:t>Stakeholders</a:t>
            </a:r>
            <a:endParaRPr lang="en-US" sz="1400" dirty="0"/>
          </a:p>
        </p:txBody>
      </p:sp>
      <p:sp>
        <p:nvSpPr>
          <p:cNvPr id="13" name="Text 11"/>
          <p:cNvSpPr/>
          <p:nvPr/>
        </p:nvSpPr>
        <p:spPr>
          <a:xfrm>
            <a:off x="640080" y="3913632"/>
            <a:ext cx="3639312" cy="566928"/>
          </a:xfrm>
          <a:prstGeom prst="rect">
            <a:avLst/>
          </a:prstGeom>
          <a:noFill/>
          <a:ln/>
        </p:spPr>
        <p:txBody>
          <a:bodyPr wrap="square" rtlCol="0" anchor="ctr"/>
          <a:lstStyle/>
          <a:p>
            <a:pPr marL="0" indent="0">
              <a:buNone/>
            </a:pPr>
            <a:r>
              <a:rPr lang="en-US" sz="1200" dirty="0">
                <a:solidFill>
                  <a:srgbClr val="1A1A2E"/>
                </a:solidFill>
                <a:latin typeface="Calibri" pitchFamily="34" charset="0"/>
                <a:ea typeface="Calibri" pitchFamily="34" charset="-122"/>
                <a:cs typeface="Calibri" pitchFamily="34" charset="-120"/>
              </a:rPr>
              <a:t>NBA front offices and general managers</a:t>
            </a:r>
            <a:endParaRPr lang="en-US" sz="1200" dirty="0"/>
          </a:p>
        </p:txBody>
      </p:sp>
      <p:sp>
        <p:nvSpPr>
          <p:cNvPr id="14" name="Shape 12"/>
          <p:cNvSpPr/>
          <p:nvPr/>
        </p:nvSpPr>
        <p:spPr>
          <a:xfrm>
            <a:off x="4663440" y="3502152"/>
            <a:ext cx="3977640" cy="1051560"/>
          </a:xfrm>
          <a:prstGeom prst="roundRect">
            <a:avLst>
              <a:gd name="adj" fmla="val 5217"/>
            </a:avLst>
          </a:prstGeom>
          <a:solidFill>
            <a:srgbClr val="FFFFFF"/>
          </a:solidFill>
          <a:ln/>
          <a:effectLst>
            <a:outerShdw blurRad="76200" dist="25400" dir="5400000" algn="bl" rotWithShape="0">
              <a:srgbClr val="B8C0D0">
                <a:alpha val="50000"/>
              </a:srgbClr>
            </a:outerShdw>
          </a:effectLst>
        </p:spPr>
        <p:txBody>
          <a:bodyPr/>
          <a:lstStyle/>
          <a:p>
            <a:endParaRPr lang="en-US"/>
          </a:p>
        </p:txBody>
      </p:sp>
      <p:sp>
        <p:nvSpPr>
          <p:cNvPr id="15" name="Text 13"/>
          <p:cNvSpPr/>
          <p:nvPr/>
        </p:nvSpPr>
        <p:spPr>
          <a:xfrm>
            <a:off x="4846320" y="3611880"/>
            <a:ext cx="3657600" cy="274320"/>
          </a:xfrm>
          <a:prstGeom prst="rect">
            <a:avLst/>
          </a:prstGeom>
          <a:noFill/>
          <a:ln/>
        </p:spPr>
        <p:txBody>
          <a:bodyPr wrap="square" rtlCol="0" anchor="ctr"/>
          <a:lstStyle/>
          <a:p>
            <a:pPr marL="0" indent="0">
              <a:buNone/>
            </a:pPr>
            <a:r>
              <a:rPr lang="en-US" sz="1400" b="1" dirty="0">
                <a:solidFill>
                  <a:srgbClr val="E56020"/>
                </a:solidFill>
                <a:latin typeface="Calibri" pitchFamily="34" charset="0"/>
                <a:ea typeface="Calibri" pitchFamily="34" charset="-122"/>
                <a:cs typeface="Calibri" pitchFamily="34" charset="-120"/>
              </a:rPr>
              <a:t>Constraints</a:t>
            </a:r>
            <a:endParaRPr lang="en-US" sz="1400" dirty="0"/>
          </a:p>
        </p:txBody>
      </p:sp>
      <p:sp>
        <p:nvSpPr>
          <p:cNvPr id="16" name="Text 14"/>
          <p:cNvSpPr/>
          <p:nvPr/>
        </p:nvSpPr>
        <p:spPr>
          <a:xfrm>
            <a:off x="4846320" y="3913632"/>
            <a:ext cx="3639312" cy="566928"/>
          </a:xfrm>
          <a:prstGeom prst="rect">
            <a:avLst/>
          </a:prstGeom>
          <a:noFill/>
          <a:ln/>
        </p:spPr>
        <p:txBody>
          <a:bodyPr wrap="square" rtlCol="0" anchor="ctr"/>
          <a:lstStyle/>
          <a:p>
            <a:pPr marL="0" indent="0">
              <a:buNone/>
            </a:pPr>
            <a:r>
              <a:rPr lang="en-US" sz="1200" dirty="0">
                <a:solidFill>
                  <a:srgbClr val="1A1A2E"/>
                </a:solidFill>
                <a:latin typeface="Calibri" pitchFamily="34" charset="0"/>
                <a:ea typeface="Calibri" pitchFamily="34" charset="-122"/>
                <a:cs typeface="Calibri" pitchFamily="34" charset="-120"/>
              </a:rPr>
              <a:t>2025-26 season only, box score stats, and salaries structured by the CBA</a:t>
            </a:r>
            <a:endParaRPr lang="en-US" sz="1200" dirty="0"/>
          </a:p>
        </p:txBody>
      </p:sp>
      <p:sp>
        <p:nvSpPr>
          <p:cNvPr id="17" name="Text 15"/>
          <p:cNvSpPr/>
          <p:nvPr/>
        </p:nvSpPr>
        <p:spPr>
          <a:xfrm>
            <a:off x="8549640" y="4709160"/>
            <a:ext cx="365760" cy="274320"/>
          </a:xfrm>
          <a:prstGeom prst="rect">
            <a:avLst/>
          </a:prstGeom>
          <a:noFill/>
          <a:ln/>
        </p:spPr>
        <p:txBody>
          <a:bodyPr wrap="square" rtlCol="0" anchor="ctr"/>
          <a:lstStyle/>
          <a:p>
            <a:pPr marL="0" indent="0" algn="r">
              <a:buNone/>
            </a:pPr>
            <a:r>
              <a:rPr lang="en-US" sz="1000" dirty="0">
                <a:solidFill>
                  <a:srgbClr val="6B7280"/>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8229600" cy="640080"/>
          </a:xfrm>
          <a:prstGeom prst="rect">
            <a:avLst/>
          </a:prstGeom>
          <a:noFill/>
          <a:ln/>
        </p:spPr>
        <p:txBody>
          <a:bodyPr wrap="square"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Data &amp; Approach</a:t>
            </a:r>
            <a:endParaRPr lang="en-US" sz="3000" dirty="0"/>
          </a:p>
        </p:txBody>
      </p:sp>
      <p:sp>
        <p:nvSpPr>
          <p:cNvPr id="3" name="Text 1"/>
          <p:cNvSpPr/>
          <p:nvPr/>
        </p:nvSpPr>
        <p:spPr>
          <a:xfrm>
            <a:off x="457200" y="1097280"/>
            <a:ext cx="8229600" cy="457200"/>
          </a:xfrm>
          <a:prstGeom prst="rect">
            <a:avLst/>
          </a:prstGeom>
          <a:noFill/>
          <a:ln/>
        </p:spPr>
        <p:txBody>
          <a:bodyPr wrap="square" rtlCol="0" anchor="ctr"/>
          <a:lstStyle/>
          <a:p>
            <a:pPr marL="0" indent="0">
              <a:buNone/>
            </a:pPr>
            <a:r>
              <a:rPr lang="en-US" sz="1400" dirty="0">
                <a:solidFill>
                  <a:srgbClr val="1A1A2E"/>
                </a:solidFill>
                <a:latin typeface="Calibri" pitchFamily="34" charset="0"/>
                <a:ea typeface="Calibri" pitchFamily="34" charset="-122"/>
                <a:cs typeface="Calibri" pitchFamily="34" charset="-120"/>
              </a:rPr>
              <a:t>Season stats and physicals from nba_api, salaries from Basketball-Reference, and CBA salary tiers, merged into one record per player.</a:t>
            </a:r>
            <a:endParaRPr lang="en-US" sz="1400" dirty="0"/>
          </a:p>
        </p:txBody>
      </p:sp>
      <p:sp>
        <p:nvSpPr>
          <p:cNvPr id="4" name="Shape 2"/>
          <p:cNvSpPr/>
          <p:nvPr/>
        </p:nvSpPr>
        <p:spPr>
          <a:xfrm>
            <a:off x="457200" y="1737360"/>
            <a:ext cx="1965960" cy="1234440"/>
          </a:xfrm>
          <a:prstGeom prst="roundRect">
            <a:avLst>
              <a:gd name="adj" fmla="val 4444"/>
            </a:avLst>
          </a:prstGeom>
          <a:solidFill>
            <a:srgbClr val="EEF2FB"/>
          </a:solidFill>
          <a:ln/>
          <a:effectLst>
            <a:outerShdw blurRad="76200" dist="25400" dir="5400000" algn="bl" rotWithShape="0">
              <a:srgbClr val="B8C0D0">
                <a:alpha val="50000"/>
              </a:srgbClr>
            </a:outerShdw>
          </a:effectLst>
        </p:spPr>
        <p:txBody>
          <a:bodyPr/>
          <a:lstStyle/>
          <a:p>
            <a:endParaRPr lang="en-US"/>
          </a:p>
        </p:txBody>
      </p:sp>
      <p:sp>
        <p:nvSpPr>
          <p:cNvPr id="5" name="Text 3"/>
          <p:cNvSpPr/>
          <p:nvPr/>
        </p:nvSpPr>
        <p:spPr>
          <a:xfrm>
            <a:off x="457200" y="1874520"/>
            <a:ext cx="1965960" cy="548640"/>
          </a:xfrm>
          <a:prstGeom prst="rect">
            <a:avLst/>
          </a:prstGeom>
          <a:noFill/>
          <a:ln/>
        </p:spPr>
        <p:txBody>
          <a:bodyPr wrap="square" rtlCol="0" anchor="ctr"/>
          <a:lstStyle/>
          <a:p>
            <a:pPr marL="0" indent="0" algn="ctr">
              <a:buNone/>
            </a:pPr>
            <a:r>
              <a:rPr lang="en-US" sz="2800" b="1" dirty="0">
                <a:solidFill>
                  <a:srgbClr val="E56020"/>
                </a:solidFill>
                <a:latin typeface="Cambria" pitchFamily="34" charset="0"/>
                <a:ea typeface="Cambria" pitchFamily="34" charset="-122"/>
                <a:cs typeface="Cambria" pitchFamily="34" charset="-120"/>
              </a:rPr>
              <a:t>582</a:t>
            </a:r>
            <a:endParaRPr lang="en-US" sz="2800" dirty="0"/>
          </a:p>
        </p:txBody>
      </p:sp>
      <p:sp>
        <p:nvSpPr>
          <p:cNvPr id="6" name="Text 4"/>
          <p:cNvSpPr/>
          <p:nvPr/>
        </p:nvSpPr>
        <p:spPr>
          <a:xfrm>
            <a:off x="457200" y="2468880"/>
            <a:ext cx="1965960" cy="411480"/>
          </a:xfrm>
          <a:prstGeom prst="rect">
            <a:avLst/>
          </a:prstGeom>
          <a:noFill/>
          <a:ln/>
        </p:spPr>
        <p:txBody>
          <a:bodyPr wrap="square" rtlCol="0" anchor="ctr"/>
          <a:lstStyle/>
          <a:p>
            <a:pPr marL="0" indent="0" algn="ctr">
              <a:buNone/>
            </a:pPr>
            <a:r>
              <a:rPr lang="en-US" sz="1200" dirty="0">
                <a:solidFill>
                  <a:srgbClr val="6B7280"/>
                </a:solidFill>
                <a:latin typeface="Calibri" pitchFamily="34" charset="0"/>
                <a:ea typeface="Calibri" pitchFamily="34" charset="-122"/>
                <a:cs typeface="Calibri" pitchFamily="34" charset="-120"/>
              </a:rPr>
              <a:t>players merged</a:t>
            </a:r>
            <a:endParaRPr lang="en-US" sz="1200" dirty="0"/>
          </a:p>
        </p:txBody>
      </p:sp>
      <p:sp>
        <p:nvSpPr>
          <p:cNvPr id="7" name="Shape 5"/>
          <p:cNvSpPr/>
          <p:nvPr/>
        </p:nvSpPr>
        <p:spPr>
          <a:xfrm>
            <a:off x="2578608" y="1737360"/>
            <a:ext cx="1965960" cy="1234440"/>
          </a:xfrm>
          <a:prstGeom prst="roundRect">
            <a:avLst>
              <a:gd name="adj" fmla="val 4444"/>
            </a:avLst>
          </a:prstGeom>
          <a:solidFill>
            <a:srgbClr val="EEF2FB"/>
          </a:solidFill>
          <a:ln/>
          <a:effectLst>
            <a:outerShdw blurRad="76200" dist="25400" dir="5400000" algn="bl" rotWithShape="0">
              <a:srgbClr val="B8C0D0">
                <a:alpha val="50000"/>
              </a:srgbClr>
            </a:outerShdw>
          </a:effectLst>
        </p:spPr>
        <p:txBody>
          <a:bodyPr/>
          <a:lstStyle/>
          <a:p>
            <a:endParaRPr lang="en-US"/>
          </a:p>
        </p:txBody>
      </p:sp>
      <p:sp>
        <p:nvSpPr>
          <p:cNvPr id="8" name="Text 6"/>
          <p:cNvSpPr/>
          <p:nvPr/>
        </p:nvSpPr>
        <p:spPr>
          <a:xfrm>
            <a:off x="2578608" y="1874520"/>
            <a:ext cx="1965960" cy="548640"/>
          </a:xfrm>
          <a:prstGeom prst="rect">
            <a:avLst/>
          </a:prstGeom>
          <a:noFill/>
          <a:ln/>
        </p:spPr>
        <p:txBody>
          <a:bodyPr wrap="square" rtlCol="0" anchor="ctr"/>
          <a:lstStyle/>
          <a:p>
            <a:pPr marL="0" indent="0" algn="ctr">
              <a:buNone/>
            </a:pPr>
            <a:r>
              <a:rPr lang="en-US" sz="2800" b="1" dirty="0">
                <a:solidFill>
                  <a:srgbClr val="E56020"/>
                </a:solidFill>
                <a:latin typeface="Cambria" pitchFamily="34" charset="0"/>
                <a:ea typeface="Cambria" pitchFamily="34" charset="-122"/>
                <a:cs typeface="Cambria" pitchFamily="34" charset="-120"/>
              </a:rPr>
              <a:t>3</a:t>
            </a:r>
            <a:endParaRPr lang="en-US" sz="2800" dirty="0"/>
          </a:p>
        </p:txBody>
      </p:sp>
      <p:sp>
        <p:nvSpPr>
          <p:cNvPr id="9" name="Text 7"/>
          <p:cNvSpPr/>
          <p:nvPr/>
        </p:nvSpPr>
        <p:spPr>
          <a:xfrm>
            <a:off x="2578608" y="2468880"/>
            <a:ext cx="1965960" cy="411480"/>
          </a:xfrm>
          <a:prstGeom prst="rect">
            <a:avLst/>
          </a:prstGeom>
          <a:noFill/>
          <a:ln/>
        </p:spPr>
        <p:txBody>
          <a:bodyPr wrap="square" rtlCol="0" anchor="ctr"/>
          <a:lstStyle/>
          <a:p>
            <a:pPr marL="0" indent="0" algn="ctr">
              <a:buNone/>
            </a:pPr>
            <a:r>
              <a:rPr lang="en-US" sz="1200" dirty="0">
                <a:solidFill>
                  <a:srgbClr val="6B7280"/>
                </a:solidFill>
                <a:latin typeface="Calibri" pitchFamily="34" charset="0"/>
                <a:ea typeface="Calibri" pitchFamily="34" charset="-122"/>
                <a:cs typeface="Calibri" pitchFamily="34" charset="-120"/>
              </a:rPr>
              <a:t>data sources</a:t>
            </a:r>
            <a:endParaRPr lang="en-US" sz="1200" dirty="0"/>
          </a:p>
        </p:txBody>
      </p:sp>
      <p:sp>
        <p:nvSpPr>
          <p:cNvPr id="10" name="Shape 8"/>
          <p:cNvSpPr/>
          <p:nvPr/>
        </p:nvSpPr>
        <p:spPr>
          <a:xfrm>
            <a:off x="4700016" y="1737360"/>
            <a:ext cx="1965960" cy="1234440"/>
          </a:xfrm>
          <a:prstGeom prst="roundRect">
            <a:avLst>
              <a:gd name="adj" fmla="val 4444"/>
            </a:avLst>
          </a:prstGeom>
          <a:solidFill>
            <a:srgbClr val="EEF2FB"/>
          </a:solidFill>
          <a:ln/>
          <a:effectLst>
            <a:outerShdw blurRad="76200" dist="25400" dir="5400000" algn="bl" rotWithShape="0">
              <a:srgbClr val="B8C0D0">
                <a:alpha val="50000"/>
              </a:srgbClr>
            </a:outerShdw>
          </a:effectLst>
        </p:spPr>
        <p:txBody>
          <a:bodyPr/>
          <a:lstStyle/>
          <a:p>
            <a:endParaRPr lang="en-US"/>
          </a:p>
        </p:txBody>
      </p:sp>
      <p:sp>
        <p:nvSpPr>
          <p:cNvPr id="11" name="Text 9"/>
          <p:cNvSpPr/>
          <p:nvPr/>
        </p:nvSpPr>
        <p:spPr>
          <a:xfrm>
            <a:off x="4700016" y="1874520"/>
            <a:ext cx="1965960" cy="548640"/>
          </a:xfrm>
          <a:prstGeom prst="rect">
            <a:avLst/>
          </a:prstGeom>
          <a:noFill/>
          <a:ln/>
        </p:spPr>
        <p:txBody>
          <a:bodyPr wrap="square" rtlCol="0" anchor="ctr"/>
          <a:lstStyle/>
          <a:p>
            <a:pPr marL="0" indent="0" algn="ctr">
              <a:buNone/>
            </a:pPr>
            <a:r>
              <a:rPr lang="en-US" sz="2800" b="1" dirty="0">
                <a:solidFill>
                  <a:srgbClr val="E56020"/>
                </a:solidFill>
                <a:latin typeface="Cambria" pitchFamily="34" charset="0"/>
                <a:ea typeface="Cambria" pitchFamily="34" charset="-122"/>
                <a:cs typeface="Cambria" pitchFamily="34" charset="-120"/>
              </a:rPr>
              <a:t>18</a:t>
            </a:r>
            <a:endParaRPr lang="en-US" sz="2800" dirty="0"/>
          </a:p>
        </p:txBody>
      </p:sp>
      <p:sp>
        <p:nvSpPr>
          <p:cNvPr id="12" name="Text 10"/>
          <p:cNvSpPr/>
          <p:nvPr/>
        </p:nvSpPr>
        <p:spPr>
          <a:xfrm>
            <a:off x="4700016" y="2468880"/>
            <a:ext cx="1965960" cy="411480"/>
          </a:xfrm>
          <a:prstGeom prst="rect">
            <a:avLst/>
          </a:prstGeom>
          <a:noFill/>
          <a:ln/>
        </p:spPr>
        <p:txBody>
          <a:bodyPr wrap="square" rtlCol="0" anchor="ctr"/>
          <a:lstStyle/>
          <a:p>
            <a:pPr marL="0" indent="0" algn="ctr">
              <a:buNone/>
            </a:pPr>
            <a:r>
              <a:rPr lang="en-US" sz="1200" dirty="0">
                <a:solidFill>
                  <a:srgbClr val="6B7280"/>
                </a:solidFill>
                <a:latin typeface="Calibri" pitchFamily="34" charset="0"/>
                <a:ea typeface="Calibri" pitchFamily="34" charset="-122"/>
                <a:cs typeface="Calibri" pitchFamily="34" charset="-120"/>
              </a:rPr>
              <a:t>model features</a:t>
            </a:r>
            <a:endParaRPr lang="en-US" sz="1200" dirty="0"/>
          </a:p>
        </p:txBody>
      </p:sp>
      <p:sp>
        <p:nvSpPr>
          <p:cNvPr id="13" name="Shape 11"/>
          <p:cNvSpPr/>
          <p:nvPr/>
        </p:nvSpPr>
        <p:spPr>
          <a:xfrm>
            <a:off x="6821424" y="1737360"/>
            <a:ext cx="1965960" cy="1234440"/>
          </a:xfrm>
          <a:prstGeom prst="roundRect">
            <a:avLst>
              <a:gd name="adj" fmla="val 4444"/>
            </a:avLst>
          </a:prstGeom>
          <a:solidFill>
            <a:srgbClr val="EEF2FB"/>
          </a:solidFill>
          <a:ln/>
          <a:effectLst>
            <a:outerShdw blurRad="76200" dist="25400" dir="5400000" algn="bl" rotWithShape="0">
              <a:srgbClr val="B8C0D0">
                <a:alpha val="50000"/>
              </a:srgbClr>
            </a:outerShdw>
          </a:effectLst>
        </p:spPr>
        <p:txBody>
          <a:bodyPr/>
          <a:lstStyle/>
          <a:p>
            <a:endParaRPr lang="en-US"/>
          </a:p>
        </p:txBody>
      </p:sp>
      <p:sp>
        <p:nvSpPr>
          <p:cNvPr id="14" name="Text 12"/>
          <p:cNvSpPr/>
          <p:nvPr/>
        </p:nvSpPr>
        <p:spPr>
          <a:xfrm>
            <a:off x="6821424" y="1874520"/>
            <a:ext cx="1965960" cy="548640"/>
          </a:xfrm>
          <a:prstGeom prst="rect">
            <a:avLst/>
          </a:prstGeom>
          <a:noFill/>
          <a:ln/>
        </p:spPr>
        <p:txBody>
          <a:bodyPr wrap="square" rtlCol="0" anchor="ctr"/>
          <a:lstStyle/>
          <a:p>
            <a:pPr marL="0" indent="0" algn="ctr">
              <a:buNone/>
            </a:pPr>
            <a:r>
              <a:rPr lang="en-US" sz="2400" b="1" dirty="0">
                <a:solidFill>
                  <a:srgbClr val="E56020"/>
                </a:solidFill>
                <a:latin typeface="Cambria" pitchFamily="34" charset="0"/>
                <a:ea typeface="Cambria" pitchFamily="34" charset="-122"/>
                <a:cs typeface="Cambria" pitchFamily="34" charset="-120"/>
              </a:rPr>
              <a:t>log(salary)</a:t>
            </a:r>
            <a:endParaRPr lang="en-US" sz="2400" dirty="0"/>
          </a:p>
        </p:txBody>
      </p:sp>
      <p:sp>
        <p:nvSpPr>
          <p:cNvPr id="15" name="Text 13"/>
          <p:cNvSpPr/>
          <p:nvPr/>
        </p:nvSpPr>
        <p:spPr>
          <a:xfrm>
            <a:off x="6821424" y="2468880"/>
            <a:ext cx="1965960" cy="411480"/>
          </a:xfrm>
          <a:prstGeom prst="rect">
            <a:avLst/>
          </a:prstGeom>
          <a:noFill/>
          <a:ln/>
        </p:spPr>
        <p:txBody>
          <a:bodyPr wrap="square" rtlCol="0" anchor="ctr"/>
          <a:lstStyle/>
          <a:p>
            <a:pPr marL="0" indent="0" algn="ctr">
              <a:buNone/>
            </a:pPr>
            <a:r>
              <a:rPr lang="en-US" sz="1200" dirty="0">
                <a:solidFill>
                  <a:srgbClr val="6B7280"/>
                </a:solidFill>
                <a:latin typeface="Calibri" pitchFamily="34" charset="0"/>
                <a:ea typeface="Calibri" pitchFamily="34" charset="-122"/>
                <a:cs typeface="Calibri" pitchFamily="34" charset="-120"/>
              </a:rPr>
              <a:t>prediction target</a:t>
            </a:r>
            <a:endParaRPr lang="en-US" sz="1200" dirty="0"/>
          </a:p>
        </p:txBody>
      </p:sp>
      <p:sp>
        <p:nvSpPr>
          <p:cNvPr id="16" name="Shape 14"/>
          <p:cNvSpPr/>
          <p:nvPr/>
        </p:nvSpPr>
        <p:spPr>
          <a:xfrm>
            <a:off x="457200" y="3200400"/>
            <a:ext cx="8229600" cy="1417320"/>
          </a:xfrm>
          <a:prstGeom prst="roundRect">
            <a:avLst>
              <a:gd name="adj" fmla="val 3871"/>
            </a:avLst>
          </a:prstGeom>
          <a:solidFill>
            <a:srgbClr val="FFFFFF"/>
          </a:solidFill>
          <a:ln/>
          <a:effectLst>
            <a:outerShdw blurRad="76200" dist="25400" dir="5400000" algn="bl" rotWithShape="0">
              <a:srgbClr val="B8C0D0">
                <a:alpha val="50000"/>
              </a:srgbClr>
            </a:outerShdw>
          </a:effectLst>
        </p:spPr>
        <p:txBody>
          <a:bodyPr/>
          <a:lstStyle/>
          <a:p>
            <a:endParaRPr lang="en-US"/>
          </a:p>
        </p:txBody>
      </p:sp>
      <p:sp>
        <p:nvSpPr>
          <p:cNvPr id="17" name="Text 15"/>
          <p:cNvSpPr/>
          <p:nvPr/>
        </p:nvSpPr>
        <p:spPr>
          <a:xfrm>
            <a:off x="685800" y="3310128"/>
            <a:ext cx="7772400" cy="320040"/>
          </a:xfrm>
          <a:prstGeom prst="rect">
            <a:avLst/>
          </a:prstGeom>
          <a:noFill/>
          <a:ln/>
        </p:spPr>
        <p:txBody>
          <a:bodyPr wrap="square" rtlCol="0" anchor="ctr"/>
          <a:lstStyle/>
          <a:p>
            <a:pPr marL="0" indent="0">
              <a:buNone/>
            </a:pPr>
            <a:r>
              <a:rPr lang="en-US" sz="1400" b="1" dirty="0">
                <a:solidFill>
                  <a:srgbClr val="1E2761"/>
                </a:solidFill>
                <a:latin typeface="Calibri" pitchFamily="34" charset="0"/>
                <a:ea typeface="Calibri" pitchFamily="34" charset="-122"/>
                <a:cs typeface="Calibri" pitchFamily="34" charset="-120"/>
              </a:rPr>
              <a:t>Formulated as a regression problem</a:t>
            </a:r>
            <a:endParaRPr lang="en-US" sz="1400" dirty="0"/>
          </a:p>
        </p:txBody>
      </p:sp>
      <p:sp>
        <p:nvSpPr>
          <p:cNvPr id="18" name="Text 16"/>
          <p:cNvSpPr/>
          <p:nvPr/>
        </p:nvSpPr>
        <p:spPr>
          <a:xfrm>
            <a:off x="777240" y="3657600"/>
            <a:ext cx="7589520" cy="914400"/>
          </a:xfrm>
          <a:prstGeom prst="rect">
            <a:avLst/>
          </a:prstGeom>
          <a:noFill/>
          <a:ln/>
        </p:spPr>
        <p:txBody>
          <a:bodyPr wrap="square" rtlCol="0" anchor="ctr"/>
          <a:lstStyle/>
          <a:p>
            <a:pPr marL="342900" indent="-342900">
              <a:spcAft>
                <a:spcPts val="400"/>
              </a:spcAft>
              <a:buSzPct val="100000"/>
              <a:buChar char="•"/>
            </a:pPr>
            <a:r>
              <a:rPr lang="en-US" sz="1250" dirty="0">
                <a:solidFill>
                  <a:srgbClr val="1A1A2E"/>
                </a:solidFill>
                <a:latin typeface="Calibri" pitchFamily="34" charset="0"/>
                <a:ea typeface="Calibri" pitchFamily="34" charset="-122"/>
                <a:cs typeface="Calibri" pitchFamily="34" charset="-120"/>
              </a:rPr>
              <a:t>Target: natural log of salary, chosen because raw salary is heavily right skewed</a:t>
            </a:r>
            <a:endParaRPr lang="en-US" sz="1250" dirty="0"/>
          </a:p>
          <a:p>
            <a:pPr marL="342900" indent="-342900">
              <a:spcAft>
                <a:spcPts val="400"/>
              </a:spcAft>
              <a:buSzPct val="100000"/>
              <a:buChar char="•"/>
            </a:pPr>
            <a:r>
              <a:rPr lang="en-US" sz="1250" dirty="0">
                <a:solidFill>
                  <a:srgbClr val="1A1A2E"/>
                </a:solidFill>
                <a:latin typeface="Calibri" pitchFamily="34" charset="0"/>
                <a:ea typeface="Calibri" pitchFamily="34" charset="-122"/>
                <a:cs typeface="Calibri" pitchFamily="34" charset="-120"/>
              </a:rPr>
              <a:t>Predictors: per 36 minute production rates, shooting percentages, minutes per game, games played, experience, and age</a:t>
            </a:r>
            <a:endParaRPr lang="en-US" sz="1250" dirty="0"/>
          </a:p>
          <a:p>
            <a:pPr marL="342900" indent="-342900">
              <a:spcAft>
                <a:spcPts val="400"/>
              </a:spcAft>
              <a:buSzPct val="100000"/>
              <a:buChar char="•"/>
            </a:pPr>
            <a:r>
              <a:rPr lang="en-US" sz="1250" dirty="0">
                <a:solidFill>
                  <a:srgbClr val="1A1A2E"/>
                </a:solidFill>
                <a:latin typeface="Calibri" pitchFamily="34" charset="0"/>
                <a:ea typeface="Calibri" pitchFamily="34" charset="-122"/>
                <a:cs typeface="Calibri" pitchFamily="34" charset="-120"/>
              </a:rPr>
              <a:t>Physical measurements were reserved for clustering rather than the salary model</a:t>
            </a:r>
            <a:endParaRPr lang="en-US" sz="1250" dirty="0"/>
          </a:p>
        </p:txBody>
      </p:sp>
      <p:sp>
        <p:nvSpPr>
          <p:cNvPr id="19" name="Text 17"/>
          <p:cNvSpPr/>
          <p:nvPr/>
        </p:nvSpPr>
        <p:spPr>
          <a:xfrm>
            <a:off x="8549640" y="4709160"/>
            <a:ext cx="365760" cy="274320"/>
          </a:xfrm>
          <a:prstGeom prst="rect">
            <a:avLst/>
          </a:prstGeom>
          <a:noFill/>
          <a:ln/>
        </p:spPr>
        <p:txBody>
          <a:bodyPr wrap="square" rtlCol="0" anchor="ctr"/>
          <a:lstStyle/>
          <a:p>
            <a:pPr marL="0" indent="0" algn="r">
              <a:buNone/>
            </a:pPr>
            <a:r>
              <a:rPr lang="en-US" sz="1000" dirty="0">
                <a:solidFill>
                  <a:srgbClr val="6B7280"/>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8229600" cy="640080"/>
          </a:xfrm>
          <a:prstGeom prst="rect">
            <a:avLst/>
          </a:prstGeom>
          <a:noFill/>
          <a:ln/>
        </p:spPr>
        <p:txBody>
          <a:bodyPr wrap="square"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Data Wrangling</a:t>
            </a:r>
            <a:endParaRPr lang="en-US" sz="3000" dirty="0"/>
          </a:p>
        </p:txBody>
      </p:sp>
      <p:sp>
        <p:nvSpPr>
          <p:cNvPr id="3" name="Shape 1"/>
          <p:cNvSpPr/>
          <p:nvPr/>
        </p:nvSpPr>
        <p:spPr>
          <a:xfrm>
            <a:off x="548640" y="1280160"/>
            <a:ext cx="2286000" cy="1371600"/>
          </a:xfrm>
          <a:prstGeom prst="roundRect">
            <a:avLst>
              <a:gd name="adj" fmla="val 4000"/>
            </a:avLst>
          </a:prstGeom>
          <a:solidFill>
            <a:srgbClr val="EEF2FB"/>
          </a:solidFill>
          <a:ln/>
          <a:effectLst>
            <a:outerShdw blurRad="76200" dist="25400" dir="5400000" algn="bl" rotWithShape="0">
              <a:srgbClr val="B8C0D0">
                <a:alpha val="50000"/>
              </a:srgbClr>
            </a:outerShdw>
          </a:effectLst>
        </p:spPr>
        <p:txBody>
          <a:bodyPr/>
          <a:lstStyle/>
          <a:p>
            <a:endParaRPr lang="en-US"/>
          </a:p>
        </p:txBody>
      </p:sp>
      <p:sp>
        <p:nvSpPr>
          <p:cNvPr id="4" name="Text 2"/>
          <p:cNvSpPr/>
          <p:nvPr/>
        </p:nvSpPr>
        <p:spPr>
          <a:xfrm>
            <a:off x="548640" y="1417320"/>
            <a:ext cx="2286000" cy="548640"/>
          </a:xfrm>
          <a:prstGeom prst="rect">
            <a:avLst/>
          </a:prstGeom>
          <a:noFill/>
          <a:ln/>
        </p:spPr>
        <p:txBody>
          <a:bodyPr wrap="square" rtlCol="0" anchor="ctr"/>
          <a:lstStyle/>
          <a:p>
            <a:pPr marL="0" indent="0" algn="ctr">
              <a:buNone/>
            </a:pPr>
            <a:r>
              <a:rPr lang="en-US" sz="3200" b="1" dirty="0">
                <a:solidFill>
                  <a:srgbClr val="1E2761"/>
                </a:solidFill>
                <a:latin typeface="Cambria" pitchFamily="34" charset="0"/>
                <a:ea typeface="Cambria" pitchFamily="34" charset="-122"/>
                <a:cs typeface="Cambria" pitchFamily="34" charset="-120"/>
              </a:rPr>
              <a:t>582</a:t>
            </a:r>
            <a:endParaRPr lang="en-US" sz="3200" dirty="0"/>
          </a:p>
        </p:txBody>
      </p:sp>
      <p:sp>
        <p:nvSpPr>
          <p:cNvPr id="5" name="Text 3"/>
          <p:cNvSpPr/>
          <p:nvPr/>
        </p:nvSpPr>
        <p:spPr>
          <a:xfrm>
            <a:off x="640080" y="1965960"/>
            <a:ext cx="2103120" cy="594360"/>
          </a:xfrm>
          <a:prstGeom prst="rect">
            <a:avLst/>
          </a:prstGeom>
          <a:noFill/>
          <a:ln/>
        </p:spPr>
        <p:txBody>
          <a:bodyPr wrap="square" rtlCol="0" anchor="ctr"/>
          <a:lstStyle/>
          <a:p>
            <a:pPr marL="0" indent="0" algn="ctr">
              <a:buNone/>
            </a:pPr>
            <a:r>
              <a:rPr lang="en-US" sz="1100" dirty="0">
                <a:solidFill>
                  <a:srgbClr val="6B7280"/>
                </a:solidFill>
                <a:latin typeface="Calibri" pitchFamily="34" charset="0"/>
                <a:ea typeface="Calibri" pitchFamily="34" charset="-122"/>
                <a:cs typeface="Calibri" pitchFamily="34" charset="-120"/>
              </a:rPr>
              <a:t>players merged</a:t>
            </a:r>
            <a:endParaRPr lang="en-US" sz="1100" dirty="0"/>
          </a:p>
          <a:p>
            <a:pPr marL="0" indent="0" algn="ctr">
              <a:buNone/>
            </a:pPr>
            <a:r>
              <a:rPr lang="en-US" sz="1100" dirty="0">
                <a:solidFill>
                  <a:srgbClr val="6B7280"/>
                </a:solidFill>
                <a:latin typeface="Calibri" pitchFamily="34" charset="0"/>
                <a:ea typeface="Calibri" pitchFamily="34" charset="-122"/>
                <a:cs typeface="Calibri" pitchFamily="34" charset="-120"/>
              </a:rPr>
              <a:t>(stats + salaries + bio)</a:t>
            </a:r>
            <a:endParaRPr lang="en-US" sz="1100" dirty="0"/>
          </a:p>
        </p:txBody>
      </p:sp>
      <p:sp>
        <p:nvSpPr>
          <p:cNvPr id="6" name="Text 4"/>
          <p:cNvSpPr/>
          <p:nvPr/>
        </p:nvSpPr>
        <p:spPr>
          <a:xfrm>
            <a:off x="2834640" y="1280160"/>
            <a:ext cx="457200" cy="1371600"/>
          </a:xfrm>
          <a:prstGeom prst="rect">
            <a:avLst/>
          </a:prstGeom>
          <a:noFill/>
          <a:ln/>
        </p:spPr>
        <p:txBody>
          <a:bodyPr wrap="square" rtlCol="0" anchor="ctr"/>
          <a:lstStyle/>
          <a:p>
            <a:pPr marL="0" indent="0" algn="ctr">
              <a:buNone/>
            </a:pPr>
            <a:r>
              <a:rPr lang="en-US" sz="2600" b="1" dirty="0">
                <a:solidFill>
                  <a:srgbClr val="E56020"/>
                </a:solidFill>
                <a:latin typeface="Calibri" pitchFamily="34" charset="0"/>
                <a:ea typeface="Calibri" pitchFamily="34" charset="-122"/>
                <a:cs typeface="Calibri" pitchFamily="34" charset="-120"/>
              </a:rPr>
              <a:t>→</a:t>
            </a:r>
            <a:endParaRPr lang="en-US" sz="2600" dirty="0"/>
          </a:p>
        </p:txBody>
      </p:sp>
      <p:sp>
        <p:nvSpPr>
          <p:cNvPr id="7" name="Shape 5"/>
          <p:cNvSpPr/>
          <p:nvPr/>
        </p:nvSpPr>
        <p:spPr>
          <a:xfrm>
            <a:off x="3291840" y="1280160"/>
            <a:ext cx="2286000" cy="1371600"/>
          </a:xfrm>
          <a:prstGeom prst="roundRect">
            <a:avLst>
              <a:gd name="adj" fmla="val 4000"/>
            </a:avLst>
          </a:prstGeom>
          <a:solidFill>
            <a:srgbClr val="EEF2FB"/>
          </a:solidFill>
          <a:ln/>
          <a:effectLst>
            <a:outerShdw blurRad="76200" dist="25400" dir="5400000" algn="bl" rotWithShape="0">
              <a:srgbClr val="B8C0D0">
                <a:alpha val="50000"/>
              </a:srgbClr>
            </a:outerShdw>
          </a:effectLst>
        </p:spPr>
        <p:txBody>
          <a:bodyPr/>
          <a:lstStyle/>
          <a:p>
            <a:endParaRPr lang="en-US"/>
          </a:p>
        </p:txBody>
      </p:sp>
      <p:sp>
        <p:nvSpPr>
          <p:cNvPr id="8" name="Text 6"/>
          <p:cNvSpPr/>
          <p:nvPr/>
        </p:nvSpPr>
        <p:spPr>
          <a:xfrm>
            <a:off x="3291840" y="1417320"/>
            <a:ext cx="2286000" cy="548640"/>
          </a:xfrm>
          <a:prstGeom prst="rect">
            <a:avLst/>
          </a:prstGeom>
          <a:noFill/>
          <a:ln/>
        </p:spPr>
        <p:txBody>
          <a:bodyPr wrap="square" rtlCol="0" anchor="ctr"/>
          <a:lstStyle/>
          <a:p>
            <a:pPr marL="0" indent="0" algn="ctr">
              <a:buNone/>
            </a:pPr>
            <a:r>
              <a:rPr lang="en-US" sz="3200" b="1" dirty="0">
                <a:solidFill>
                  <a:srgbClr val="1E2761"/>
                </a:solidFill>
                <a:latin typeface="Cambria" pitchFamily="34" charset="0"/>
                <a:ea typeface="Cambria" pitchFamily="34" charset="-122"/>
                <a:cs typeface="Cambria" pitchFamily="34" charset="-120"/>
              </a:rPr>
              <a:t>379</a:t>
            </a:r>
            <a:endParaRPr lang="en-US" sz="3200" dirty="0"/>
          </a:p>
        </p:txBody>
      </p:sp>
      <p:sp>
        <p:nvSpPr>
          <p:cNvPr id="9" name="Text 7"/>
          <p:cNvSpPr/>
          <p:nvPr/>
        </p:nvSpPr>
        <p:spPr>
          <a:xfrm>
            <a:off x="3383280" y="1965960"/>
            <a:ext cx="2103120" cy="594360"/>
          </a:xfrm>
          <a:prstGeom prst="rect">
            <a:avLst/>
          </a:prstGeom>
          <a:noFill/>
          <a:ln/>
        </p:spPr>
        <p:txBody>
          <a:bodyPr wrap="square" rtlCol="0" anchor="ctr"/>
          <a:lstStyle/>
          <a:p>
            <a:pPr marL="0" indent="0" algn="ctr">
              <a:buNone/>
            </a:pPr>
            <a:r>
              <a:rPr lang="en-US" sz="1100" dirty="0">
                <a:solidFill>
                  <a:srgbClr val="6B7280"/>
                </a:solidFill>
                <a:latin typeface="Calibri" pitchFamily="34" charset="0"/>
                <a:ea typeface="Calibri" pitchFamily="34" charset="-122"/>
                <a:cs typeface="Calibri" pitchFamily="34" charset="-120"/>
              </a:rPr>
              <a:t>after 500 minute cutoff</a:t>
            </a:r>
            <a:endParaRPr lang="en-US" sz="1100" dirty="0"/>
          </a:p>
        </p:txBody>
      </p:sp>
      <p:sp>
        <p:nvSpPr>
          <p:cNvPr id="10" name="Text 8"/>
          <p:cNvSpPr/>
          <p:nvPr/>
        </p:nvSpPr>
        <p:spPr>
          <a:xfrm>
            <a:off x="5577840" y="1280160"/>
            <a:ext cx="457200" cy="1371600"/>
          </a:xfrm>
          <a:prstGeom prst="rect">
            <a:avLst/>
          </a:prstGeom>
          <a:noFill/>
          <a:ln/>
        </p:spPr>
        <p:txBody>
          <a:bodyPr wrap="square" rtlCol="0" anchor="ctr"/>
          <a:lstStyle/>
          <a:p>
            <a:pPr marL="0" indent="0" algn="ctr">
              <a:buNone/>
            </a:pPr>
            <a:r>
              <a:rPr lang="en-US" sz="2600" b="1" dirty="0">
                <a:solidFill>
                  <a:srgbClr val="E56020"/>
                </a:solidFill>
                <a:latin typeface="Calibri" pitchFamily="34" charset="0"/>
                <a:ea typeface="Calibri" pitchFamily="34" charset="-122"/>
                <a:cs typeface="Calibri" pitchFamily="34" charset="-120"/>
              </a:rPr>
              <a:t>→</a:t>
            </a:r>
            <a:endParaRPr lang="en-US" sz="2600" dirty="0"/>
          </a:p>
        </p:txBody>
      </p:sp>
      <p:sp>
        <p:nvSpPr>
          <p:cNvPr id="11" name="Shape 9"/>
          <p:cNvSpPr/>
          <p:nvPr/>
        </p:nvSpPr>
        <p:spPr>
          <a:xfrm>
            <a:off x="6035040" y="1280160"/>
            <a:ext cx="2286000" cy="1371600"/>
          </a:xfrm>
          <a:prstGeom prst="roundRect">
            <a:avLst>
              <a:gd name="adj" fmla="val 4000"/>
            </a:avLst>
          </a:prstGeom>
          <a:solidFill>
            <a:srgbClr val="1E2761"/>
          </a:solidFill>
          <a:ln/>
          <a:effectLst>
            <a:outerShdw blurRad="76200" dist="25400" dir="5400000" algn="bl" rotWithShape="0">
              <a:srgbClr val="B8C0D0">
                <a:alpha val="50000"/>
              </a:srgbClr>
            </a:outerShdw>
          </a:effectLst>
        </p:spPr>
        <p:txBody>
          <a:bodyPr/>
          <a:lstStyle/>
          <a:p>
            <a:endParaRPr lang="en-US"/>
          </a:p>
        </p:txBody>
      </p:sp>
      <p:sp>
        <p:nvSpPr>
          <p:cNvPr id="12" name="Text 10"/>
          <p:cNvSpPr/>
          <p:nvPr/>
        </p:nvSpPr>
        <p:spPr>
          <a:xfrm>
            <a:off x="6035040" y="1417320"/>
            <a:ext cx="2286000" cy="548640"/>
          </a:xfrm>
          <a:prstGeom prst="rect">
            <a:avLst/>
          </a:prstGeom>
          <a:noFill/>
          <a:ln/>
        </p:spPr>
        <p:txBody>
          <a:bodyPr wrap="square" rtlCol="0" anchor="ctr"/>
          <a:lstStyle/>
          <a:p>
            <a:pPr marL="0" indent="0" algn="ctr">
              <a:buNone/>
            </a:pPr>
            <a:r>
              <a:rPr lang="en-US" sz="3200" b="1" dirty="0">
                <a:solidFill>
                  <a:srgbClr val="E56020"/>
                </a:solidFill>
                <a:latin typeface="Cambria" pitchFamily="34" charset="0"/>
                <a:ea typeface="Cambria" pitchFamily="34" charset="-122"/>
                <a:cs typeface="Cambria" pitchFamily="34" charset="-120"/>
              </a:rPr>
              <a:t>363</a:t>
            </a:r>
            <a:endParaRPr lang="en-US" sz="3200" dirty="0"/>
          </a:p>
        </p:txBody>
      </p:sp>
      <p:sp>
        <p:nvSpPr>
          <p:cNvPr id="13" name="Text 11"/>
          <p:cNvSpPr/>
          <p:nvPr/>
        </p:nvSpPr>
        <p:spPr>
          <a:xfrm>
            <a:off x="6126480" y="1965960"/>
            <a:ext cx="2103120" cy="594360"/>
          </a:xfrm>
          <a:prstGeom prst="rect">
            <a:avLst/>
          </a:prstGeom>
          <a:noFill/>
          <a:ln/>
        </p:spPr>
        <p:txBody>
          <a:bodyPr wrap="square"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with salary</a:t>
            </a:r>
            <a:endParaRPr lang="en-US" sz="1100" dirty="0"/>
          </a:p>
          <a:p>
            <a:pPr marL="0" indent="0" algn="ctr">
              <a:buNone/>
            </a:pPr>
            <a:r>
              <a:rPr lang="en-US" sz="1100" dirty="0">
                <a:solidFill>
                  <a:srgbClr val="FFFFFF"/>
                </a:solidFill>
                <a:latin typeface="Calibri" pitchFamily="34" charset="0"/>
                <a:ea typeface="Calibri" pitchFamily="34" charset="-122"/>
                <a:cs typeface="Calibri" pitchFamily="34" charset="-120"/>
              </a:rPr>
              <a:t>used for the model</a:t>
            </a:r>
            <a:endParaRPr lang="en-US" sz="1100" dirty="0"/>
          </a:p>
        </p:txBody>
      </p:sp>
      <p:sp>
        <p:nvSpPr>
          <p:cNvPr id="14" name="Shape 12"/>
          <p:cNvSpPr/>
          <p:nvPr/>
        </p:nvSpPr>
        <p:spPr>
          <a:xfrm>
            <a:off x="548640" y="2971800"/>
            <a:ext cx="3977640" cy="1371600"/>
          </a:xfrm>
          <a:prstGeom prst="roundRect">
            <a:avLst>
              <a:gd name="adj" fmla="val 4000"/>
            </a:avLst>
          </a:prstGeom>
          <a:solidFill>
            <a:srgbClr val="FFFFFF"/>
          </a:solidFill>
          <a:ln/>
          <a:effectLst>
            <a:outerShdw blurRad="76200" dist="25400" dir="5400000" algn="bl" rotWithShape="0">
              <a:srgbClr val="B8C0D0">
                <a:alpha val="50000"/>
              </a:srgbClr>
            </a:outerShdw>
          </a:effectLst>
        </p:spPr>
        <p:txBody>
          <a:bodyPr/>
          <a:lstStyle/>
          <a:p>
            <a:endParaRPr lang="en-US"/>
          </a:p>
        </p:txBody>
      </p:sp>
      <p:sp>
        <p:nvSpPr>
          <p:cNvPr id="15" name="Text 13"/>
          <p:cNvSpPr/>
          <p:nvPr/>
        </p:nvSpPr>
        <p:spPr>
          <a:xfrm>
            <a:off x="731520" y="3108960"/>
            <a:ext cx="3657600" cy="320040"/>
          </a:xfrm>
          <a:prstGeom prst="rect">
            <a:avLst/>
          </a:prstGeom>
          <a:noFill/>
          <a:ln/>
        </p:spPr>
        <p:txBody>
          <a:bodyPr wrap="square" rtlCol="0" anchor="ctr"/>
          <a:lstStyle/>
          <a:p>
            <a:pPr marL="0" indent="0">
              <a:buNone/>
            </a:pPr>
            <a:r>
              <a:rPr lang="en-US" sz="1400" b="1" dirty="0">
                <a:solidFill>
                  <a:srgbClr val="E56020"/>
                </a:solidFill>
                <a:latin typeface="Calibri" pitchFamily="34" charset="0"/>
                <a:ea typeface="Calibri" pitchFamily="34" charset="-122"/>
                <a:cs typeface="Calibri" pitchFamily="34" charset="-120"/>
              </a:rPr>
              <a:t>Missing weights</a:t>
            </a:r>
            <a:endParaRPr lang="en-US" sz="1400" dirty="0"/>
          </a:p>
        </p:txBody>
      </p:sp>
      <p:sp>
        <p:nvSpPr>
          <p:cNvPr id="16" name="Text 14"/>
          <p:cNvSpPr/>
          <p:nvPr/>
        </p:nvSpPr>
        <p:spPr>
          <a:xfrm>
            <a:off x="731520" y="3474720"/>
            <a:ext cx="3639312" cy="777240"/>
          </a:xfrm>
          <a:prstGeom prst="rect">
            <a:avLst/>
          </a:prstGeom>
          <a:noFill/>
          <a:ln/>
        </p:spPr>
        <p:txBody>
          <a:bodyPr wrap="square" rtlCol="0" anchor="ctr"/>
          <a:lstStyle/>
          <a:p>
            <a:pPr marL="0" indent="0">
              <a:buNone/>
            </a:pPr>
            <a:r>
              <a:rPr lang="en-US" sz="1250" dirty="0">
                <a:solidFill>
                  <a:srgbClr val="1A1A2E"/>
                </a:solidFill>
                <a:latin typeface="Calibri" pitchFamily="34" charset="0"/>
                <a:ea typeface="Calibri" pitchFamily="34" charset="-122"/>
                <a:cs typeface="Calibri" pitchFamily="34" charset="-120"/>
              </a:rPr>
              <a:t>Median weight imputed for 6 players, mostly two way and G League contracts</a:t>
            </a:r>
            <a:endParaRPr lang="en-US" sz="1250" dirty="0"/>
          </a:p>
        </p:txBody>
      </p:sp>
      <p:sp>
        <p:nvSpPr>
          <p:cNvPr id="17" name="Shape 15"/>
          <p:cNvSpPr/>
          <p:nvPr/>
        </p:nvSpPr>
        <p:spPr>
          <a:xfrm>
            <a:off x="4709160" y="2971800"/>
            <a:ext cx="3977640" cy="1371600"/>
          </a:xfrm>
          <a:prstGeom prst="roundRect">
            <a:avLst>
              <a:gd name="adj" fmla="val 4000"/>
            </a:avLst>
          </a:prstGeom>
          <a:solidFill>
            <a:srgbClr val="FFFFFF"/>
          </a:solidFill>
          <a:ln/>
          <a:effectLst>
            <a:outerShdw blurRad="76200" dist="25400" dir="5400000" algn="bl" rotWithShape="0">
              <a:srgbClr val="B8C0D0">
                <a:alpha val="50000"/>
              </a:srgbClr>
            </a:outerShdw>
          </a:effectLst>
        </p:spPr>
        <p:txBody>
          <a:bodyPr/>
          <a:lstStyle/>
          <a:p>
            <a:endParaRPr lang="en-US"/>
          </a:p>
        </p:txBody>
      </p:sp>
      <p:sp>
        <p:nvSpPr>
          <p:cNvPr id="18" name="Text 16"/>
          <p:cNvSpPr/>
          <p:nvPr/>
        </p:nvSpPr>
        <p:spPr>
          <a:xfrm>
            <a:off x="4892040" y="3108960"/>
            <a:ext cx="3657600" cy="320040"/>
          </a:xfrm>
          <a:prstGeom prst="rect">
            <a:avLst/>
          </a:prstGeom>
          <a:noFill/>
          <a:ln/>
        </p:spPr>
        <p:txBody>
          <a:bodyPr wrap="square" rtlCol="0" anchor="ctr"/>
          <a:lstStyle/>
          <a:p>
            <a:pPr marL="0" indent="0">
              <a:buNone/>
            </a:pPr>
            <a:r>
              <a:rPr lang="en-US" sz="1400" b="1" dirty="0">
                <a:solidFill>
                  <a:srgbClr val="E56020"/>
                </a:solidFill>
                <a:latin typeface="Calibri" pitchFamily="34" charset="0"/>
                <a:ea typeface="Calibri" pitchFamily="34" charset="-122"/>
                <a:cs typeface="Calibri" pitchFamily="34" charset="-120"/>
              </a:rPr>
              <a:t>Missing salaries</a:t>
            </a:r>
            <a:endParaRPr lang="en-US" sz="1400" dirty="0"/>
          </a:p>
        </p:txBody>
      </p:sp>
      <p:sp>
        <p:nvSpPr>
          <p:cNvPr id="19" name="Text 17"/>
          <p:cNvSpPr/>
          <p:nvPr/>
        </p:nvSpPr>
        <p:spPr>
          <a:xfrm>
            <a:off x="4892040" y="3474720"/>
            <a:ext cx="3639312" cy="777240"/>
          </a:xfrm>
          <a:prstGeom prst="rect">
            <a:avLst/>
          </a:prstGeom>
          <a:noFill/>
          <a:ln/>
        </p:spPr>
        <p:txBody>
          <a:bodyPr wrap="square" rtlCol="0" anchor="ctr"/>
          <a:lstStyle/>
          <a:p>
            <a:pPr marL="0" indent="0">
              <a:buNone/>
            </a:pPr>
            <a:r>
              <a:rPr lang="en-US" sz="1250" dirty="0">
                <a:solidFill>
                  <a:srgbClr val="1A1A2E"/>
                </a:solidFill>
                <a:latin typeface="Calibri" pitchFamily="34" charset="0"/>
                <a:ea typeface="Calibri" pitchFamily="34" charset="-122"/>
                <a:cs typeface="Calibri" pitchFamily="34" charset="-120"/>
              </a:rPr>
              <a:t>113 players had no salary on record. Excluded from the model but kept for clustering</a:t>
            </a:r>
            <a:endParaRPr lang="en-US" sz="1250" dirty="0"/>
          </a:p>
        </p:txBody>
      </p:sp>
      <p:sp>
        <p:nvSpPr>
          <p:cNvPr id="20" name="Text 18"/>
          <p:cNvSpPr/>
          <p:nvPr/>
        </p:nvSpPr>
        <p:spPr>
          <a:xfrm>
            <a:off x="8549640" y="4709160"/>
            <a:ext cx="365760" cy="274320"/>
          </a:xfrm>
          <a:prstGeom prst="rect">
            <a:avLst/>
          </a:prstGeom>
          <a:noFill/>
          <a:ln/>
        </p:spPr>
        <p:txBody>
          <a:bodyPr wrap="square" rtlCol="0" anchor="ctr"/>
          <a:lstStyle/>
          <a:p>
            <a:pPr marL="0" indent="0" algn="r">
              <a:buNone/>
            </a:pPr>
            <a:r>
              <a:rPr lang="en-US" sz="1000" dirty="0">
                <a:solidFill>
                  <a:srgbClr val="6B7280"/>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8229600" cy="640080"/>
          </a:xfrm>
          <a:prstGeom prst="rect">
            <a:avLst/>
          </a:prstGeom>
          <a:noFill/>
          <a:ln/>
        </p:spPr>
        <p:txBody>
          <a:bodyPr wrap="square"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Exploratory Analysis</a:t>
            </a:r>
            <a:endParaRPr lang="en-US" sz="3000" dirty="0"/>
          </a:p>
        </p:txBody>
      </p:sp>
      <p:pic>
        <p:nvPicPr>
          <p:cNvPr id="3" name="Image 0" descr="preencoded.png"/>
          <p:cNvPicPr>
            <a:picLocks noChangeAspect="1"/>
          </p:cNvPicPr>
          <p:nvPr/>
        </p:nvPicPr>
        <p:blipFill>
          <a:blip r:embed="rId3"/>
          <a:stretch>
            <a:fillRect/>
          </a:stretch>
        </p:blipFill>
        <p:spPr>
          <a:xfrm>
            <a:off x="365760" y="1234440"/>
            <a:ext cx="4754880" cy="1664208"/>
          </a:xfrm>
          <a:prstGeom prst="rect">
            <a:avLst/>
          </a:prstGeom>
        </p:spPr>
      </p:pic>
      <p:sp>
        <p:nvSpPr>
          <p:cNvPr id="5" name="Shape 2"/>
          <p:cNvSpPr/>
          <p:nvPr/>
        </p:nvSpPr>
        <p:spPr>
          <a:xfrm>
            <a:off x="5349240" y="1234440"/>
            <a:ext cx="3429000" cy="3246120"/>
          </a:xfrm>
          <a:prstGeom prst="roundRect">
            <a:avLst>
              <a:gd name="adj" fmla="val 1690"/>
            </a:avLst>
          </a:prstGeom>
          <a:solidFill>
            <a:srgbClr val="EEF2FB"/>
          </a:solidFill>
          <a:ln/>
          <a:effectLst>
            <a:outerShdw blurRad="76200" dist="25400" dir="5400000" algn="bl" rotWithShape="0">
              <a:srgbClr val="B8C0D0">
                <a:alpha val="50000"/>
              </a:srgbClr>
            </a:outerShdw>
          </a:effectLst>
        </p:spPr>
        <p:txBody>
          <a:bodyPr/>
          <a:lstStyle/>
          <a:p>
            <a:endParaRPr lang="en-US"/>
          </a:p>
        </p:txBody>
      </p:sp>
      <p:sp>
        <p:nvSpPr>
          <p:cNvPr id="6" name="Text 3"/>
          <p:cNvSpPr/>
          <p:nvPr/>
        </p:nvSpPr>
        <p:spPr>
          <a:xfrm>
            <a:off x="5532120" y="1371600"/>
            <a:ext cx="3108960" cy="320040"/>
          </a:xfrm>
          <a:prstGeom prst="rect">
            <a:avLst/>
          </a:prstGeom>
          <a:noFill/>
          <a:ln/>
        </p:spPr>
        <p:txBody>
          <a:bodyPr wrap="square" rtlCol="0" anchor="ctr"/>
          <a:lstStyle/>
          <a:p>
            <a:pPr marL="0" indent="0">
              <a:buNone/>
            </a:pPr>
            <a:r>
              <a:rPr lang="en-US" sz="1500" b="1" dirty="0">
                <a:solidFill>
                  <a:srgbClr val="1E2761"/>
                </a:solidFill>
                <a:latin typeface="Calibri" pitchFamily="34" charset="0"/>
                <a:ea typeface="Calibri" pitchFamily="34" charset="-122"/>
                <a:cs typeface="Calibri" pitchFamily="34" charset="-120"/>
              </a:rPr>
              <a:t>Key Findings</a:t>
            </a:r>
            <a:endParaRPr lang="en-US" sz="1500" dirty="0"/>
          </a:p>
        </p:txBody>
      </p:sp>
      <p:sp>
        <p:nvSpPr>
          <p:cNvPr id="7" name="Text 4"/>
          <p:cNvSpPr/>
          <p:nvPr/>
        </p:nvSpPr>
        <p:spPr>
          <a:xfrm>
            <a:off x="5532120" y="1783080"/>
            <a:ext cx="3108960" cy="2606040"/>
          </a:xfrm>
          <a:prstGeom prst="rect">
            <a:avLst/>
          </a:prstGeom>
          <a:noFill/>
          <a:ln/>
        </p:spPr>
        <p:txBody>
          <a:bodyPr wrap="square" rtlCol="0" anchor="ctr"/>
          <a:lstStyle/>
          <a:p>
            <a:pPr marL="342900" indent="-342900">
              <a:spcAft>
                <a:spcPts val="800"/>
              </a:spcAft>
              <a:buSzPct val="100000"/>
              <a:buChar char="•"/>
            </a:pPr>
            <a:r>
              <a:rPr lang="en-US" sz="1250" dirty="0">
                <a:solidFill>
                  <a:srgbClr val="1A1A2E"/>
                </a:solidFill>
                <a:latin typeface="Calibri" pitchFamily="34" charset="0"/>
                <a:ea typeface="Calibri" pitchFamily="34" charset="-122"/>
                <a:cs typeface="Calibri" pitchFamily="34" charset="-120"/>
              </a:rPr>
              <a:t>Salary is heavily right skewed, so the log of salary was used as the target</a:t>
            </a:r>
            <a:endParaRPr lang="en-US" sz="1250" dirty="0"/>
          </a:p>
          <a:p>
            <a:pPr marL="342900" indent="-342900">
              <a:spcAft>
                <a:spcPts val="800"/>
              </a:spcAft>
              <a:buSzPct val="100000"/>
              <a:buChar char="•"/>
            </a:pPr>
            <a:r>
              <a:rPr lang="en-US" sz="1250" dirty="0">
                <a:solidFill>
                  <a:srgbClr val="1A1A2E"/>
                </a:solidFill>
                <a:latin typeface="Calibri" pitchFamily="34" charset="0"/>
                <a:ea typeface="Calibri" pitchFamily="34" charset="-122"/>
                <a:cs typeface="Calibri" pitchFamily="34" charset="-120"/>
              </a:rPr>
              <a:t>Offensive volume stats such as points, field goal attempts, and free throw attempts relate most strongly to pay</a:t>
            </a:r>
            <a:endParaRPr lang="en-US" sz="1250" dirty="0"/>
          </a:p>
          <a:p>
            <a:pPr marL="342900" indent="-342900">
              <a:spcAft>
                <a:spcPts val="800"/>
              </a:spcAft>
              <a:buSzPct val="100000"/>
              <a:buChar char="•"/>
            </a:pPr>
            <a:r>
              <a:rPr lang="en-US" sz="1250" dirty="0">
                <a:solidFill>
                  <a:srgbClr val="1A1A2E"/>
                </a:solidFill>
                <a:latin typeface="Calibri" pitchFamily="34" charset="0"/>
                <a:ea typeface="Calibri" pitchFamily="34" charset="-122"/>
                <a:cs typeface="Calibri" pitchFamily="34" charset="-120"/>
              </a:rPr>
              <a:t>Defensive stats like rebounds, blocks, and steals relate less to pay</a:t>
            </a:r>
            <a:endParaRPr lang="en-US" sz="1250" dirty="0"/>
          </a:p>
          <a:p>
            <a:pPr marL="342900" indent="-342900">
              <a:spcAft>
                <a:spcPts val="800"/>
              </a:spcAft>
              <a:buSzPct val="100000"/>
              <a:buChar char="•"/>
            </a:pPr>
            <a:r>
              <a:rPr lang="en-US" sz="1250" dirty="0">
                <a:solidFill>
                  <a:srgbClr val="1A1A2E"/>
                </a:solidFill>
                <a:latin typeface="Calibri" pitchFamily="34" charset="0"/>
                <a:ea typeface="Calibri" pitchFamily="34" charset="-122"/>
                <a:cs typeface="Calibri" pitchFamily="34" charset="-120"/>
              </a:rPr>
              <a:t>Players under 500 minutes were removed to cut small sample noise</a:t>
            </a:r>
            <a:endParaRPr lang="en-US" sz="1250" dirty="0"/>
          </a:p>
        </p:txBody>
      </p:sp>
      <p:sp>
        <p:nvSpPr>
          <p:cNvPr id="8" name="Text 5"/>
          <p:cNvSpPr/>
          <p:nvPr/>
        </p:nvSpPr>
        <p:spPr>
          <a:xfrm>
            <a:off x="8549640" y="4709160"/>
            <a:ext cx="365760" cy="274320"/>
          </a:xfrm>
          <a:prstGeom prst="rect">
            <a:avLst/>
          </a:prstGeom>
          <a:noFill/>
          <a:ln/>
        </p:spPr>
        <p:txBody>
          <a:bodyPr wrap="square" rtlCol="0" anchor="ctr"/>
          <a:lstStyle/>
          <a:p>
            <a:pPr marL="0" indent="0" algn="r">
              <a:buNone/>
            </a:pPr>
            <a:r>
              <a:rPr lang="en-US" sz="1000" dirty="0">
                <a:solidFill>
                  <a:srgbClr val="6B7280"/>
                </a:solidFill>
                <a:latin typeface="Calibri" pitchFamily="34" charset="0"/>
                <a:ea typeface="Calibri" pitchFamily="34" charset="-122"/>
                <a:cs typeface="Calibri" pitchFamily="34" charset="-120"/>
              </a:rPr>
              <a:t>6</a:t>
            </a:r>
            <a:endParaRPr lang="en-US" sz="1000" dirty="0"/>
          </a:p>
        </p:txBody>
      </p:sp>
      <p:pic>
        <p:nvPicPr>
          <p:cNvPr id="10" name="Picture 9">
            <a:extLst>
              <a:ext uri="{FF2B5EF4-FFF2-40B4-BE49-F238E27FC236}">
                <a16:creationId xmlns:a16="http://schemas.microsoft.com/office/drawing/2014/main" id="{303B5B12-EEC8-F4C7-68AE-8B0FAF13971C}"/>
              </a:ext>
            </a:extLst>
          </p:cNvPr>
          <p:cNvPicPr>
            <a:picLocks noChangeAspect="1"/>
          </p:cNvPicPr>
          <p:nvPr/>
        </p:nvPicPr>
        <p:blipFill>
          <a:blip r:embed="rId4"/>
          <a:stretch>
            <a:fillRect/>
          </a:stretch>
        </p:blipFill>
        <p:spPr>
          <a:xfrm>
            <a:off x="1028700" y="3086100"/>
            <a:ext cx="3429000" cy="1545464"/>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292608"/>
            <a:ext cx="8229600" cy="640080"/>
          </a:xfrm>
          <a:prstGeom prst="rect">
            <a:avLst/>
          </a:prstGeom>
          <a:noFill/>
          <a:ln/>
        </p:spPr>
        <p:txBody>
          <a:bodyPr wrap="square"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Player Archetypes</a:t>
            </a:r>
            <a:endParaRPr lang="en-US" sz="3000" dirty="0"/>
          </a:p>
        </p:txBody>
      </p:sp>
      <p:sp>
        <p:nvSpPr>
          <p:cNvPr id="3" name="Text 1"/>
          <p:cNvSpPr/>
          <p:nvPr/>
        </p:nvSpPr>
        <p:spPr>
          <a:xfrm>
            <a:off x="457200" y="1024128"/>
            <a:ext cx="8229600" cy="320040"/>
          </a:xfrm>
          <a:prstGeom prst="rect">
            <a:avLst/>
          </a:prstGeom>
          <a:noFill/>
          <a:ln/>
        </p:spPr>
        <p:txBody>
          <a:bodyPr wrap="square" rtlCol="0" anchor="ctr"/>
          <a:lstStyle/>
          <a:p>
            <a:pPr marL="0" indent="0">
              <a:buNone/>
            </a:pPr>
            <a:r>
              <a:rPr lang="en-US" sz="1300" dirty="0">
                <a:solidFill>
                  <a:srgbClr val="1A1A2E"/>
                </a:solidFill>
                <a:latin typeface="Calibri" pitchFamily="34" charset="0"/>
                <a:ea typeface="Calibri" pitchFamily="34" charset="-122"/>
                <a:cs typeface="Calibri" pitchFamily="34" charset="-120"/>
              </a:rPr>
              <a:t>k-means grouped players into five archetypes. The color swatches match the scatter at left.</a:t>
            </a:r>
            <a:endParaRPr lang="en-US" sz="1300" dirty="0"/>
          </a:p>
        </p:txBody>
      </p:sp>
      <p:pic>
        <p:nvPicPr>
          <p:cNvPr id="4" name="Image 0" descr="preencoded.png"/>
          <p:cNvPicPr>
            <a:picLocks noChangeAspect="1"/>
          </p:cNvPicPr>
          <p:nvPr/>
        </p:nvPicPr>
        <p:blipFill>
          <a:blip r:embed="rId3"/>
          <a:stretch>
            <a:fillRect/>
          </a:stretch>
        </p:blipFill>
        <p:spPr>
          <a:xfrm>
            <a:off x="365760" y="1508760"/>
            <a:ext cx="3657600" cy="2459736"/>
          </a:xfrm>
          <a:prstGeom prst="rect">
            <a:avLst/>
          </a:prstGeom>
        </p:spPr>
      </p:pic>
      <p:sp>
        <p:nvSpPr>
          <p:cNvPr id="5" name="Shape 2"/>
          <p:cNvSpPr/>
          <p:nvPr/>
        </p:nvSpPr>
        <p:spPr>
          <a:xfrm>
            <a:off x="4160520" y="1417320"/>
            <a:ext cx="4617720" cy="493776"/>
          </a:xfrm>
          <a:prstGeom prst="roundRect">
            <a:avLst>
              <a:gd name="adj" fmla="val 11111"/>
            </a:avLst>
          </a:prstGeom>
          <a:solidFill>
            <a:srgbClr val="EEF2FB"/>
          </a:solidFill>
          <a:ln/>
          <a:effectLst>
            <a:outerShdw blurRad="76200" dist="25400" dir="5400000" algn="bl" rotWithShape="0">
              <a:srgbClr val="B8C0D0">
                <a:alpha val="50000"/>
              </a:srgbClr>
            </a:outerShdw>
          </a:effectLst>
        </p:spPr>
        <p:txBody>
          <a:bodyPr/>
          <a:lstStyle/>
          <a:p>
            <a:endParaRPr lang="en-US"/>
          </a:p>
        </p:txBody>
      </p:sp>
      <p:sp>
        <p:nvSpPr>
          <p:cNvPr id="6" name="Shape 3"/>
          <p:cNvSpPr/>
          <p:nvPr/>
        </p:nvSpPr>
        <p:spPr>
          <a:xfrm>
            <a:off x="4315968" y="1586484"/>
            <a:ext cx="155448" cy="155448"/>
          </a:xfrm>
          <a:prstGeom prst="roundRect">
            <a:avLst>
              <a:gd name="adj" fmla="val 17647"/>
            </a:avLst>
          </a:prstGeom>
          <a:solidFill>
            <a:srgbClr val="7F7F7F"/>
          </a:solidFill>
          <a:ln w="12700">
            <a:solidFill>
              <a:srgbClr val="FFFFFF"/>
            </a:solidFill>
            <a:prstDash val="solid"/>
          </a:ln>
        </p:spPr>
        <p:txBody>
          <a:bodyPr/>
          <a:lstStyle/>
          <a:p>
            <a:endParaRPr lang="en-US"/>
          </a:p>
        </p:txBody>
      </p:sp>
      <p:sp>
        <p:nvSpPr>
          <p:cNvPr id="7" name="Text 4"/>
          <p:cNvSpPr/>
          <p:nvPr/>
        </p:nvSpPr>
        <p:spPr>
          <a:xfrm>
            <a:off x="4562856" y="1444752"/>
            <a:ext cx="2788920" cy="438912"/>
          </a:xfrm>
          <a:prstGeom prst="rect">
            <a:avLst/>
          </a:prstGeom>
          <a:noFill/>
          <a:ln/>
        </p:spPr>
        <p:txBody>
          <a:bodyPr wrap="square" rtlCol="0" anchor="ctr"/>
          <a:lstStyle/>
          <a:p>
            <a:pPr marL="0" indent="0">
              <a:buNone/>
            </a:pPr>
            <a:r>
              <a:rPr lang="en-US" sz="1000" b="1" dirty="0">
                <a:solidFill>
                  <a:srgbClr val="1A1A2E"/>
                </a:solidFill>
                <a:latin typeface="Calibri" pitchFamily="34" charset="0"/>
                <a:ea typeface="Calibri" pitchFamily="34" charset="-122"/>
                <a:cs typeface="Calibri" pitchFamily="34" charset="-120"/>
              </a:rPr>
              <a:t>Elite Superstar Frontcourt</a:t>
            </a:r>
            <a:endParaRPr lang="en-US" sz="1000" dirty="0"/>
          </a:p>
        </p:txBody>
      </p:sp>
      <p:sp>
        <p:nvSpPr>
          <p:cNvPr id="8" name="Text 5"/>
          <p:cNvSpPr/>
          <p:nvPr/>
        </p:nvSpPr>
        <p:spPr>
          <a:xfrm>
            <a:off x="7360920" y="1444752"/>
            <a:ext cx="658368" cy="438912"/>
          </a:xfrm>
          <a:prstGeom prst="rect">
            <a:avLst/>
          </a:prstGeom>
          <a:noFill/>
          <a:ln/>
        </p:spPr>
        <p:txBody>
          <a:bodyPr wrap="square" rtlCol="0" anchor="ctr"/>
          <a:lstStyle/>
          <a:p>
            <a:pPr marL="0" indent="0">
              <a:buNone/>
            </a:pPr>
            <a:r>
              <a:rPr lang="en-US" sz="950" dirty="0">
                <a:solidFill>
                  <a:srgbClr val="6B7280"/>
                </a:solidFill>
                <a:latin typeface="Calibri" pitchFamily="34" charset="0"/>
                <a:ea typeface="Calibri" pitchFamily="34" charset="-122"/>
                <a:cs typeface="Calibri" pitchFamily="34" charset="-120"/>
              </a:rPr>
              <a:t>41 players</a:t>
            </a:r>
            <a:endParaRPr lang="en-US" sz="950" dirty="0"/>
          </a:p>
        </p:txBody>
      </p:sp>
      <p:sp>
        <p:nvSpPr>
          <p:cNvPr id="9" name="Text 6"/>
          <p:cNvSpPr/>
          <p:nvPr/>
        </p:nvSpPr>
        <p:spPr>
          <a:xfrm>
            <a:off x="8028432" y="1444752"/>
            <a:ext cx="713232" cy="438912"/>
          </a:xfrm>
          <a:prstGeom prst="rect">
            <a:avLst/>
          </a:prstGeom>
          <a:noFill/>
          <a:ln/>
        </p:spPr>
        <p:txBody>
          <a:bodyPr wrap="square" rtlCol="0" anchor="ctr"/>
          <a:lstStyle/>
          <a:p>
            <a:pPr marL="0" indent="0" algn="r">
              <a:buNone/>
            </a:pPr>
            <a:r>
              <a:rPr lang="en-US" sz="1050" b="1" dirty="0">
                <a:solidFill>
                  <a:srgbClr val="E56020"/>
                </a:solidFill>
                <a:latin typeface="Calibri" pitchFamily="34" charset="0"/>
                <a:ea typeface="Calibri" pitchFamily="34" charset="-122"/>
                <a:cs typeface="Calibri" pitchFamily="34" charset="-120"/>
              </a:rPr>
              <a:t>$36.1M avg</a:t>
            </a:r>
            <a:endParaRPr lang="en-US" sz="1050" dirty="0"/>
          </a:p>
        </p:txBody>
      </p:sp>
      <p:sp>
        <p:nvSpPr>
          <p:cNvPr id="10" name="Shape 7"/>
          <p:cNvSpPr/>
          <p:nvPr/>
        </p:nvSpPr>
        <p:spPr>
          <a:xfrm>
            <a:off x="4160520" y="1984248"/>
            <a:ext cx="4617720" cy="493776"/>
          </a:xfrm>
          <a:prstGeom prst="roundRect">
            <a:avLst>
              <a:gd name="adj" fmla="val 11111"/>
            </a:avLst>
          </a:prstGeom>
          <a:solidFill>
            <a:srgbClr val="FFFFFF"/>
          </a:solidFill>
          <a:ln/>
          <a:effectLst>
            <a:outerShdw blurRad="76200" dist="25400" dir="5400000" algn="bl" rotWithShape="0">
              <a:srgbClr val="B8C0D0">
                <a:alpha val="50000"/>
              </a:srgbClr>
            </a:outerShdw>
          </a:effectLst>
        </p:spPr>
        <p:txBody>
          <a:bodyPr/>
          <a:lstStyle/>
          <a:p>
            <a:endParaRPr lang="en-US"/>
          </a:p>
        </p:txBody>
      </p:sp>
      <p:sp>
        <p:nvSpPr>
          <p:cNvPr id="11" name="Shape 8"/>
          <p:cNvSpPr/>
          <p:nvPr/>
        </p:nvSpPr>
        <p:spPr>
          <a:xfrm>
            <a:off x="4315968" y="2153412"/>
            <a:ext cx="155448" cy="155448"/>
          </a:xfrm>
          <a:prstGeom prst="roundRect">
            <a:avLst>
              <a:gd name="adj" fmla="val 17647"/>
            </a:avLst>
          </a:prstGeom>
          <a:solidFill>
            <a:srgbClr val="17BECF"/>
          </a:solidFill>
          <a:ln w="12700">
            <a:solidFill>
              <a:srgbClr val="FFFFFF"/>
            </a:solidFill>
            <a:prstDash val="solid"/>
          </a:ln>
        </p:spPr>
        <p:txBody>
          <a:bodyPr/>
          <a:lstStyle/>
          <a:p>
            <a:endParaRPr lang="en-US"/>
          </a:p>
        </p:txBody>
      </p:sp>
      <p:sp>
        <p:nvSpPr>
          <p:cNvPr id="12" name="Text 9"/>
          <p:cNvSpPr/>
          <p:nvPr/>
        </p:nvSpPr>
        <p:spPr>
          <a:xfrm>
            <a:off x="4562856" y="2011680"/>
            <a:ext cx="2788920" cy="438912"/>
          </a:xfrm>
          <a:prstGeom prst="rect">
            <a:avLst/>
          </a:prstGeom>
          <a:noFill/>
          <a:ln/>
        </p:spPr>
        <p:txBody>
          <a:bodyPr wrap="square" rtlCol="0" anchor="ctr"/>
          <a:lstStyle/>
          <a:p>
            <a:pPr marL="0" indent="0">
              <a:buNone/>
            </a:pPr>
            <a:r>
              <a:rPr lang="en-US" sz="1000" b="1" dirty="0">
                <a:solidFill>
                  <a:srgbClr val="1A1A2E"/>
                </a:solidFill>
                <a:latin typeface="Calibri" pitchFamily="34" charset="0"/>
                <a:ea typeface="Calibri" pitchFamily="34" charset="-122"/>
                <a:cs typeface="Calibri" pitchFamily="34" charset="-120"/>
              </a:rPr>
              <a:t>Elite Scoring Guards &amp; Playmakers</a:t>
            </a:r>
            <a:endParaRPr lang="en-US" sz="1000" dirty="0"/>
          </a:p>
        </p:txBody>
      </p:sp>
      <p:sp>
        <p:nvSpPr>
          <p:cNvPr id="13" name="Text 10"/>
          <p:cNvSpPr/>
          <p:nvPr/>
        </p:nvSpPr>
        <p:spPr>
          <a:xfrm>
            <a:off x="7360920" y="2011680"/>
            <a:ext cx="658368" cy="438912"/>
          </a:xfrm>
          <a:prstGeom prst="rect">
            <a:avLst/>
          </a:prstGeom>
          <a:noFill/>
          <a:ln/>
        </p:spPr>
        <p:txBody>
          <a:bodyPr wrap="square" rtlCol="0" anchor="ctr"/>
          <a:lstStyle/>
          <a:p>
            <a:pPr marL="0" indent="0">
              <a:buNone/>
            </a:pPr>
            <a:r>
              <a:rPr lang="en-US" sz="950" dirty="0">
                <a:solidFill>
                  <a:srgbClr val="6B7280"/>
                </a:solidFill>
                <a:latin typeface="Calibri" pitchFamily="34" charset="0"/>
                <a:ea typeface="Calibri" pitchFamily="34" charset="-122"/>
                <a:cs typeface="Calibri" pitchFamily="34" charset="-120"/>
              </a:rPr>
              <a:t>91 players</a:t>
            </a:r>
            <a:endParaRPr lang="en-US" sz="950" dirty="0"/>
          </a:p>
        </p:txBody>
      </p:sp>
      <p:sp>
        <p:nvSpPr>
          <p:cNvPr id="14" name="Text 11"/>
          <p:cNvSpPr/>
          <p:nvPr/>
        </p:nvSpPr>
        <p:spPr>
          <a:xfrm>
            <a:off x="8028432" y="2011680"/>
            <a:ext cx="713232" cy="438912"/>
          </a:xfrm>
          <a:prstGeom prst="rect">
            <a:avLst/>
          </a:prstGeom>
          <a:noFill/>
          <a:ln/>
        </p:spPr>
        <p:txBody>
          <a:bodyPr wrap="square" rtlCol="0" anchor="ctr"/>
          <a:lstStyle/>
          <a:p>
            <a:pPr marL="0" indent="0" algn="r">
              <a:buNone/>
            </a:pPr>
            <a:r>
              <a:rPr lang="en-US" sz="1050" b="1" dirty="0">
                <a:solidFill>
                  <a:srgbClr val="E56020"/>
                </a:solidFill>
                <a:latin typeface="Calibri" pitchFamily="34" charset="0"/>
                <a:ea typeface="Calibri" pitchFamily="34" charset="-122"/>
                <a:cs typeface="Calibri" pitchFamily="34" charset="-120"/>
              </a:rPr>
              <a:t>$17.7M avg</a:t>
            </a:r>
            <a:endParaRPr lang="en-US" sz="1050" dirty="0"/>
          </a:p>
        </p:txBody>
      </p:sp>
      <p:sp>
        <p:nvSpPr>
          <p:cNvPr id="15" name="Shape 12"/>
          <p:cNvSpPr/>
          <p:nvPr/>
        </p:nvSpPr>
        <p:spPr>
          <a:xfrm>
            <a:off x="4160520" y="2551176"/>
            <a:ext cx="4617720" cy="493776"/>
          </a:xfrm>
          <a:prstGeom prst="roundRect">
            <a:avLst>
              <a:gd name="adj" fmla="val 11111"/>
            </a:avLst>
          </a:prstGeom>
          <a:solidFill>
            <a:srgbClr val="FFFFFF"/>
          </a:solidFill>
          <a:ln/>
          <a:effectLst>
            <a:outerShdw blurRad="76200" dist="25400" dir="5400000" algn="bl" rotWithShape="0">
              <a:srgbClr val="B8C0D0">
                <a:alpha val="50000"/>
              </a:srgbClr>
            </a:outerShdw>
          </a:effectLst>
        </p:spPr>
        <p:txBody>
          <a:bodyPr/>
          <a:lstStyle/>
          <a:p>
            <a:endParaRPr lang="en-US"/>
          </a:p>
        </p:txBody>
      </p:sp>
      <p:sp>
        <p:nvSpPr>
          <p:cNvPr id="16" name="Shape 13"/>
          <p:cNvSpPr/>
          <p:nvPr/>
        </p:nvSpPr>
        <p:spPr>
          <a:xfrm>
            <a:off x="4315968" y="2720340"/>
            <a:ext cx="155448" cy="155448"/>
          </a:xfrm>
          <a:prstGeom prst="roundRect">
            <a:avLst>
              <a:gd name="adj" fmla="val 17647"/>
            </a:avLst>
          </a:prstGeom>
          <a:solidFill>
            <a:srgbClr val="8C564B"/>
          </a:solidFill>
          <a:ln w="12700">
            <a:solidFill>
              <a:srgbClr val="FFFFFF"/>
            </a:solidFill>
            <a:prstDash val="solid"/>
          </a:ln>
        </p:spPr>
        <p:txBody>
          <a:bodyPr/>
          <a:lstStyle/>
          <a:p>
            <a:endParaRPr lang="en-US"/>
          </a:p>
        </p:txBody>
      </p:sp>
      <p:sp>
        <p:nvSpPr>
          <p:cNvPr id="17" name="Text 14"/>
          <p:cNvSpPr/>
          <p:nvPr/>
        </p:nvSpPr>
        <p:spPr>
          <a:xfrm>
            <a:off x="4562856" y="2578608"/>
            <a:ext cx="2788920" cy="438912"/>
          </a:xfrm>
          <a:prstGeom prst="rect">
            <a:avLst/>
          </a:prstGeom>
          <a:noFill/>
          <a:ln/>
        </p:spPr>
        <p:txBody>
          <a:bodyPr wrap="square" rtlCol="0" anchor="ctr"/>
          <a:lstStyle/>
          <a:p>
            <a:pPr marL="0" indent="0">
              <a:buNone/>
            </a:pPr>
            <a:r>
              <a:rPr lang="en-US" sz="1000" b="1" dirty="0">
                <a:solidFill>
                  <a:srgbClr val="1A1A2E"/>
                </a:solidFill>
                <a:latin typeface="Calibri" pitchFamily="34" charset="0"/>
                <a:ea typeface="Calibri" pitchFamily="34" charset="-122"/>
                <a:cs typeface="Calibri" pitchFamily="34" charset="-120"/>
              </a:rPr>
              <a:t>Traditional Centers &amp; Paint Anchors</a:t>
            </a:r>
            <a:endParaRPr lang="en-US" sz="1000" dirty="0"/>
          </a:p>
        </p:txBody>
      </p:sp>
      <p:sp>
        <p:nvSpPr>
          <p:cNvPr id="18" name="Text 15"/>
          <p:cNvSpPr/>
          <p:nvPr/>
        </p:nvSpPr>
        <p:spPr>
          <a:xfrm>
            <a:off x="7360920" y="2578608"/>
            <a:ext cx="658368" cy="438912"/>
          </a:xfrm>
          <a:prstGeom prst="rect">
            <a:avLst/>
          </a:prstGeom>
          <a:noFill/>
          <a:ln/>
        </p:spPr>
        <p:txBody>
          <a:bodyPr wrap="square" rtlCol="0" anchor="ctr"/>
          <a:lstStyle/>
          <a:p>
            <a:pPr marL="0" indent="0">
              <a:buNone/>
            </a:pPr>
            <a:r>
              <a:rPr lang="en-US" sz="950" dirty="0">
                <a:solidFill>
                  <a:srgbClr val="6B7280"/>
                </a:solidFill>
                <a:latin typeface="Calibri" pitchFamily="34" charset="0"/>
                <a:ea typeface="Calibri" pitchFamily="34" charset="-122"/>
                <a:cs typeface="Calibri" pitchFamily="34" charset="-120"/>
              </a:rPr>
              <a:t>38 players</a:t>
            </a:r>
            <a:endParaRPr lang="en-US" sz="950" dirty="0"/>
          </a:p>
        </p:txBody>
      </p:sp>
      <p:sp>
        <p:nvSpPr>
          <p:cNvPr id="19" name="Text 16"/>
          <p:cNvSpPr/>
          <p:nvPr/>
        </p:nvSpPr>
        <p:spPr>
          <a:xfrm>
            <a:off x="8028432" y="2578608"/>
            <a:ext cx="713232" cy="438912"/>
          </a:xfrm>
          <a:prstGeom prst="rect">
            <a:avLst/>
          </a:prstGeom>
          <a:noFill/>
          <a:ln/>
        </p:spPr>
        <p:txBody>
          <a:bodyPr wrap="square" rtlCol="0" anchor="ctr"/>
          <a:lstStyle/>
          <a:p>
            <a:pPr marL="0" indent="0" algn="r">
              <a:buNone/>
            </a:pPr>
            <a:r>
              <a:rPr lang="en-US" sz="1050" b="1" dirty="0">
                <a:solidFill>
                  <a:srgbClr val="E56020"/>
                </a:solidFill>
                <a:latin typeface="Calibri" pitchFamily="34" charset="0"/>
                <a:ea typeface="Calibri" pitchFamily="34" charset="-122"/>
                <a:cs typeface="Calibri" pitchFamily="34" charset="-120"/>
              </a:rPr>
              <a:t>$11.8M avg</a:t>
            </a:r>
            <a:endParaRPr lang="en-US" sz="1050" dirty="0"/>
          </a:p>
        </p:txBody>
      </p:sp>
      <p:sp>
        <p:nvSpPr>
          <p:cNvPr id="20" name="Shape 17"/>
          <p:cNvSpPr/>
          <p:nvPr/>
        </p:nvSpPr>
        <p:spPr>
          <a:xfrm>
            <a:off x="4160520" y="3118104"/>
            <a:ext cx="4617720" cy="493776"/>
          </a:xfrm>
          <a:prstGeom prst="roundRect">
            <a:avLst>
              <a:gd name="adj" fmla="val 11111"/>
            </a:avLst>
          </a:prstGeom>
          <a:solidFill>
            <a:srgbClr val="FFFFFF"/>
          </a:solidFill>
          <a:ln/>
          <a:effectLst>
            <a:outerShdw blurRad="76200" dist="25400" dir="5400000" algn="bl" rotWithShape="0">
              <a:srgbClr val="B8C0D0">
                <a:alpha val="50000"/>
              </a:srgbClr>
            </a:outerShdw>
          </a:effectLst>
        </p:spPr>
        <p:txBody>
          <a:bodyPr/>
          <a:lstStyle/>
          <a:p>
            <a:endParaRPr lang="en-US"/>
          </a:p>
        </p:txBody>
      </p:sp>
      <p:sp>
        <p:nvSpPr>
          <p:cNvPr id="21" name="Shape 18"/>
          <p:cNvSpPr/>
          <p:nvPr/>
        </p:nvSpPr>
        <p:spPr>
          <a:xfrm>
            <a:off x="4315968" y="3287268"/>
            <a:ext cx="155448" cy="155448"/>
          </a:xfrm>
          <a:prstGeom prst="roundRect">
            <a:avLst>
              <a:gd name="adj" fmla="val 17647"/>
            </a:avLst>
          </a:prstGeom>
          <a:solidFill>
            <a:srgbClr val="1F77B4"/>
          </a:solidFill>
          <a:ln w="12700">
            <a:solidFill>
              <a:srgbClr val="FFFFFF"/>
            </a:solidFill>
            <a:prstDash val="solid"/>
          </a:ln>
        </p:spPr>
        <p:txBody>
          <a:bodyPr/>
          <a:lstStyle/>
          <a:p>
            <a:endParaRPr lang="en-US"/>
          </a:p>
        </p:txBody>
      </p:sp>
      <p:sp>
        <p:nvSpPr>
          <p:cNvPr id="22" name="Text 19"/>
          <p:cNvSpPr/>
          <p:nvPr/>
        </p:nvSpPr>
        <p:spPr>
          <a:xfrm>
            <a:off x="4562856" y="3145536"/>
            <a:ext cx="2788920" cy="438912"/>
          </a:xfrm>
          <a:prstGeom prst="rect">
            <a:avLst/>
          </a:prstGeom>
          <a:noFill/>
          <a:ln/>
        </p:spPr>
        <p:txBody>
          <a:bodyPr wrap="square" rtlCol="0" anchor="ctr"/>
          <a:lstStyle/>
          <a:p>
            <a:pPr marL="0" indent="0">
              <a:buNone/>
            </a:pPr>
            <a:r>
              <a:rPr lang="en-US" sz="1000" b="1" dirty="0">
                <a:solidFill>
                  <a:srgbClr val="1A1A2E"/>
                </a:solidFill>
                <a:latin typeface="Calibri" pitchFamily="34" charset="0"/>
                <a:ea typeface="Calibri" pitchFamily="34" charset="-122"/>
                <a:cs typeface="Calibri" pitchFamily="34" charset="-120"/>
              </a:rPr>
              <a:t>Versatile Forwards &amp; Dynamic Bigs</a:t>
            </a:r>
            <a:endParaRPr lang="en-US" sz="1000" dirty="0"/>
          </a:p>
        </p:txBody>
      </p:sp>
      <p:sp>
        <p:nvSpPr>
          <p:cNvPr id="23" name="Text 20"/>
          <p:cNvSpPr/>
          <p:nvPr/>
        </p:nvSpPr>
        <p:spPr>
          <a:xfrm>
            <a:off x="7360920" y="3145536"/>
            <a:ext cx="658368" cy="438912"/>
          </a:xfrm>
          <a:prstGeom prst="rect">
            <a:avLst/>
          </a:prstGeom>
          <a:noFill/>
          <a:ln/>
        </p:spPr>
        <p:txBody>
          <a:bodyPr wrap="square" rtlCol="0" anchor="ctr"/>
          <a:lstStyle/>
          <a:p>
            <a:pPr marL="0" indent="0">
              <a:buNone/>
            </a:pPr>
            <a:r>
              <a:rPr lang="en-US" sz="950" dirty="0">
                <a:solidFill>
                  <a:srgbClr val="6B7280"/>
                </a:solidFill>
                <a:latin typeface="Calibri" pitchFamily="34" charset="0"/>
                <a:ea typeface="Calibri" pitchFamily="34" charset="-122"/>
                <a:cs typeface="Calibri" pitchFamily="34" charset="-120"/>
              </a:rPr>
              <a:t>97 players</a:t>
            </a:r>
            <a:endParaRPr lang="en-US" sz="950" dirty="0"/>
          </a:p>
        </p:txBody>
      </p:sp>
      <p:sp>
        <p:nvSpPr>
          <p:cNvPr id="24" name="Text 21"/>
          <p:cNvSpPr/>
          <p:nvPr/>
        </p:nvSpPr>
        <p:spPr>
          <a:xfrm>
            <a:off x="8028432" y="3145536"/>
            <a:ext cx="713232" cy="438912"/>
          </a:xfrm>
          <a:prstGeom prst="rect">
            <a:avLst/>
          </a:prstGeom>
          <a:noFill/>
          <a:ln/>
        </p:spPr>
        <p:txBody>
          <a:bodyPr wrap="square" rtlCol="0" anchor="ctr"/>
          <a:lstStyle/>
          <a:p>
            <a:pPr marL="0" indent="0" algn="r">
              <a:buNone/>
            </a:pPr>
            <a:r>
              <a:rPr lang="en-US" sz="1050" b="1" dirty="0">
                <a:solidFill>
                  <a:srgbClr val="E56020"/>
                </a:solidFill>
                <a:latin typeface="Calibri" pitchFamily="34" charset="0"/>
                <a:ea typeface="Calibri" pitchFamily="34" charset="-122"/>
                <a:cs typeface="Calibri" pitchFamily="34" charset="-120"/>
              </a:rPr>
              <a:t>$7.8M avg</a:t>
            </a:r>
            <a:endParaRPr lang="en-US" sz="1050" dirty="0"/>
          </a:p>
        </p:txBody>
      </p:sp>
      <p:sp>
        <p:nvSpPr>
          <p:cNvPr id="25" name="Shape 22"/>
          <p:cNvSpPr/>
          <p:nvPr/>
        </p:nvSpPr>
        <p:spPr>
          <a:xfrm>
            <a:off x="4160520" y="3685032"/>
            <a:ext cx="4617720" cy="493776"/>
          </a:xfrm>
          <a:prstGeom prst="roundRect">
            <a:avLst>
              <a:gd name="adj" fmla="val 11111"/>
            </a:avLst>
          </a:prstGeom>
          <a:solidFill>
            <a:srgbClr val="FFFFFF"/>
          </a:solidFill>
          <a:ln/>
          <a:effectLst>
            <a:outerShdw blurRad="76200" dist="25400" dir="5400000" algn="bl" rotWithShape="0">
              <a:srgbClr val="B8C0D0">
                <a:alpha val="50000"/>
              </a:srgbClr>
            </a:outerShdw>
          </a:effectLst>
        </p:spPr>
        <p:txBody>
          <a:bodyPr/>
          <a:lstStyle/>
          <a:p>
            <a:endParaRPr lang="en-US"/>
          </a:p>
        </p:txBody>
      </p:sp>
      <p:sp>
        <p:nvSpPr>
          <p:cNvPr id="26" name="Shape 23"/>
          <p:cNvSpPr/>
          <p:nvPr/>
        </p:nvSpPr>
        <p:spPr>
          <a:xfrm>
            <a:off x="4315968" y="3854196"/>
            <a:ext cx="155448" cy="155448"/>
          </a:xfrm>
          <a:prstGeom prst="roundRect">
            <a:avLst>
              <a:gd name="adj" fmla="val 17647"/>
            </a:avLst>
          </a:prstGeom>
          <a:solidFill>
            <a:srgbClr val="2CA02C"/>
          </a:solidFill>
          <a:ln w="12700">
            <a:solidFill>
              <a:srgbClr val="FFFFFF"/>
            </a:solidFill>
            <a:prstDash val="solid"/>
          </a:ln>
        </p:spPr>
        <p:txBody>
          <a:bodyPr/>
          <a:lstStyle/>
          <a:p>
            <a:endParaRPr lang="en-US"/>
          </a:p>
        </p:txBody>
      </p:sp>
      <p:sp>
        <p:nvSpPr>
          <p:cNvPr id="27" name="Text 24"/>
          <p:cNvSpPr/>
          <p:nvPr/>
        </p:nvSpPr>
        <p:spPr>
          <a:xfrm>
            <a:off x="4562856" y="3712464"/>
            <a:ext cx="2788920" cy="438912"/>
          </a:xfrm>
          <a:prstGeom prst="rect">
            <a:avLst/>
          </a:prstGeom>
          <a:noFill/>
          <a:ln/>
        </p:spPr>
        <p:txBody>
          <a:bodyPr wrap="square" rtlCol="0" anchor="ctr"/>
          <a:lstStyle/>
          <a:p>
            <a:pPr marL="0" indent="0">
              <a:buNone/>
            </a:pPr>
            <a:r>
              <a:rPr lang="en-US" sz="1000" b="1" dirty="0">
                <a:solidFill>
                  <a:srgbClr val="1A1A2E"/>
                </a:solidFill>
                <a:latin typeface="Calibri" pitchFamily="34" charset="0"/>
                <a:ea typeface="Calibri" pitchFamily="34" charset="-122"/>
                <a:cs typeface="Calibri" pitchFamily="34" charset="-120"/>
              </a:rPr>
              <a:t>Complementary Wings &amp; Shooting Guards</a:t>
            </a:r>
            <a:endParaRPr lang="en-US" sz="1000" dirty="0"/>
          </a:p>
        </p:txBody>
      </p:sp>
      <p:sp>
        <p:nvSpPr>
          <p:cNvPr id="28" name="Text 25"/>
          <p:cNvSpPr/>
          <p:nvPr/>
        </p:nvSpPr>
        <p:spPr>
          <a:xfrm>
            <a:off x="7360920" y="3712464"/>
            <a:ext cx="658368" cy="438912"/>
          </a:xfrm>
          <a:prstGeom prst="rect">
            <a:avLst/>
          </a:prstGeom>
          <a:noFill/>
          <a:ln/>
        </p:spPr>
        <p:txBody>
          <a:bodyPr wrap="square" rtlCol="0" anchor="ctr"/>
          <a:lstStyle/>
          <a:p>
            <a:pPr marL="0" indent="0">
              <a:buNone/>
            </a:pPr>
            <a:r>
              <a:rPr lang="en-US" sz="950" dirty="0">
                <a:solidFill>
                  <a:srgbClr val="6B7280"/>
                </a:solidFill>
                <a:latin typeface="Calibri" pitchFamily="34" charset="0"/>
                <a:ea typeface="Calibri" pitchFamily="34" charset="-122"/>
                <a:cs typeface="Calibri" pitchFamily="34" charset="-120"/>
              </a:rPr>
              <a:t>112 players</a:t>
            </a:r>
            <a:endParaRPr lang="en-US" sz="950" dirty="0"/>
          </a:p>
        </p:txBody>
      </p:sp>
      <p:sp>
        <p:nvSpPr>
          <p:cNvPr id="29" name="Text 26"/>
          <p:cNvSpPr/>
          <p:nvPr/>
        </p:nvSpPr>
        <p:spPr>
          <a:xfrm>
            <a:off x="8028432" y="3712464"/>
            <a:ext cx="713232" cy="438912"/>
          </a:xfrm>
          <a:prstGeom prst="rect">
            <a:avLst/>
          </a:prstGeom>
          <a:noFill/>
          <a:ln/>
        </p:spPr>
        <p:txBody>
          <a:bodyPr wrap="square" rtlCol="0" anchor="ctr"/>
          <a:lstStyle/>
          <a:p>
            <a:pPr marL="0" indent="0" algn="r">
              <a:buNone/>
            </a:pPr>
            <a:r>
              <a:rPr lang="en-US" sz="1050" b="1" dirty="0">
                <a:solidFill>
                  <a:srgbClr val="E56020"/>
                </a:solidFill>
                <a:latin typeface="Calibri" pitchFamily="34" charset="0"/>
                <a:ea typeface="Calibri" pitchFamily="34" charset="-122"/>
                <a:cs typeface="Calibri" pitchFamily="34" charset="-120"/>
              </a:rPr>
              <a:t>$7.6M avg</a:t>
            </a:r>
            <a:endParaRPr lang="en-US" sz="1050" dirty="0"/>
          </a:p>
        </p:txBody>
      </p:sp>
      <p:sp>
        <p:nvSpPr>
          <p:cNvPr id="30" name="Text 27"/>
          <p:cNvSpPr/>
          <p:nvPr/>
        </p:nvSpPr>
        <p:spPr>
          <a:xfrm>
            <a:off x="8549640" y="4709160"/>
            <a:ext cx="365760" cy="274320"/>
          </a:xfrm>
          <a:prstGeom prst="rect">
            <a:avLst/>
          </a:prstGeom>
          <a:noFill/>
          <a:ln/>
        </p:spPr>
        <p:txBody>
          <a:bodyPr wrap="square" rtlCol="0" anchor="ctr"/>
          <a:lstStyle/>
          <a:p>
            <a:pPr marL="0" indent="0" algn="r">
              <a:buNone/>
            </a:pPr>
            <a:r>
              <a:rPr lang="en-US" sz="1000" dirty="0">
                <a:solidFill>
                  <a:srgbClr val="6B7280"/>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8229600" cy="640080"/>
          </a:xfrm>
          <a:prstGeom prst="rect">
            <a:avLst/>
          </a:prstGeom>
          <a:noFill/>
          <a:ln/>
        </p:spPr>
        <p:txBody>
          <a:bodyPr wrap="square"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Modeling</a:t>
            </a:r>
            <a:endParaRPr lang="en-US" sz="3000" dirty="0"/>
          </a:p>
        </p:txBody>
      </p:sp>
      <p:sp>
        <p:nvSpPr>
          <p:cNvPr id="3" name="Text 1"/>
          <p:cNvSpPr/>
          <p:nvPr/>
        </p:nvSpPr>
        <p:spPr>
          <a:xfrm>
            <a:off x="457200" y="1024128"/>
            <a:ext cx="8229600" cy="320040"/>
          </a:xfrm>
          <a:prstGeom prst="rect">
            <a:avLst/>
          </a:prstGeom>
          <a:noFill/>
          <a:ln/>
        </p:spPr>
        <p:txBody>
          <a:bodyPr wrap="square" rtlCol="0" anchor="ctr"/>
          <a:lstStyle/>
          <a:p>
            <a:pPr marL="0" indent="0">
              <a:buNone/>
            </a:pPr>
            <a:r>
              <a:rPr lang="en-US" sz="1300" dirty="0">
                <a:solidFill>
                  <a:srgbClr val="1A1A2E"/>
                </a:solidFill>
                <a:latin typeface="Calibri" pitchFamily="34" charset="0"/>
                <a:ea typeface="Calibri" pitchFamily="34" charset="-122"/>
                <a:cs typeface="Calibri" pitchFamily="34" charset="-120"/>
              </a:rPr>
              <a:t>Three models were compared. Random Forest was selected on cross validated R squared and carried into the analysis.</a:t>
            </a:r>
            <a:endParaRPr lang="en-US" sz="1300" dirty="0"/>
          </a:p>
        </p:txBody>
      </p:sp>
      <p:sp>
        <p:nvSpPr>
          <p:cNvPr id="4" name="Shape 2"/>
          <p:cNvSpPr/>
          <p:nvPr/>
        </p:nvSpPr>
        <p:spPr>
          <a:xfrm>
            <a:off x="457200" y="1508760"/>
            <a:ext cx="2606040" cy="1965960"/>
          </a:xfrm>
          <a:prstGeom prst="roundRect">
            <a:avLst>
              <a:gd name="adj" fmla="val 2791"/>
            </a:avLst>
          </a:prstGeom>
          <a:solidFill>
            <a:srgbClr val="EEF2FB"/>
          </a:solidFill>
          <a:ln/>
          <a:effectLst>
            <a:outerShdw blurRad="76200" dist="25400" dir="5400000" algn="bl" rotWithShape="0">
              <a:srgbClr val="B8C0D0">
                <a:alpha val="50000"/>
              </a:srgbClr>
            </a:outerShdw>
          </a:effectLst>
        </p:spPr>
        <p:txBody>
          <a:bodyPr/>
          <a:lstStyle/>
          <a:p>
            <a:endParaRPr lang="en-US"/>
          </a:p>
        </p:txBody>
      </p:sp>
      <p:sp>
        <p:nvSpPr>
          <p:cNvPr id="5" name="Text 3"/>
          <p:cNvSpPr/>
          <p:nvPr/>
        </p:nvSpPr>
        <p:spPr>
          <a:xfrm>
            <a:off x="640080" y="1645920"/>
            <a:ext cx="2286000" cy="274320"/>
          </a:xfrm>
          <a:prstGeom prst="rect">
            <a:avLst/>
          </a:prstGeom>
          <a:noFill/>
          <a:ln/>
        </p:spPr>
        <p:txBody>
          <a:bodyPr wrap="square" rtlCol="0" anchor="ctr"/>
          <a:lstStyle/>
          <a:p>
            <a:pPr marL="0" indent="0">
              <a:buNone/>
            </a:pPr>
            <a:r>
              <a:rPr lang="en-US" sz="1100" b="1" dirty="0">
                <a:solidFill>
                  <a:srgbClr val="6B7280"/>
                </a:solidFill>
                <a:latin typeface="Calibri" pitchFamily="34" charset="0"/>
                <a:ea typeface="Calibri" pitchFamily="34" charset="-122"/>
                <a:cs typeface="Calibri" pitchFamily="34" charset="-120"/>
              </a:rPr>
              <a:t>BASELINE</a:t>
            </a:r>
            <a:endParaRPr lang="en-US" sz="1100" dirty="0"/>
          </a:p>
        </p:txBody>
      </p:sp>
      <p:sp>
        <p:nvSpPr>
          <p:cNvPr id="6" name="Text 4"/>
          <p:cNvSpPr/>
          <p:nvPr/>
        </p:nvSpPr>
        <p:spPr>
          <a:xfrm>
            <a:off x="640080" y="1938528"/>
            <a:ext cx="2286000" cy="502920"/>
          </a:xfrm>
          <a:prstGeom prst="rect">
            <a:avLst/>
          </a:prstGeom>
          <a:noFill/>
          <a:ln/>
        </p:spPr>
        <p:txBody>
          <a:bodyPr wrap="square" rtlCol="0" anchor="ctr"/>
          <a:lstStyle/>
          <a:p>
            <a:pPr marL="0" indent="0">
              <a:buNone/>
            </a:pPr>
            <a:r>
              <a:rPr lang="en-US" sz="1600" b="1" dirty="0">
                <a:solidFill>
                  <a:srgbClr val="1E2761"/>
                </a:solidFill>
                <a:latin typeface="Cambria" pitchFamily="34" charset="0"/>
                <a:ea typeface="Cambria" pitchFamily="34" charset="-122"/>
                <a:cs typeface="Cambria" pitchFamily="34" charset="-120"/>
              </a:rPr>
              <a:t>Linear Regression</a:t>
            </a:r>
            <a:endParaRPr lang="en-US" sz="1600" dirty="0"/>
          </a:p>
        </p:txBody>
      </p:sp>
      <p:sp>
        <p:nvSpPr>
          <p:cNvPr id="7" name="Text 5"/>
          <p:cNvSpPr/>
          <p:nvPr/>
        </p:nvSpPr>
        <p:spPr>
          <a:xfrm>
            <a:off x="640080" y="2514600"/>
            <a:ext cx="2286000" cy="365760"/>
          </a:xfrm>
          <a:prstGeom prst="rect">
            <a:avLst/>
          </a:prstGeom>
          <a:noFill/>
          <a:ln/>
        </p:spPr>
        <p:txBody>
          <a:bodyPr wrap="square" rtlCol="0" anchor="ctr"/>
          <a:lstStyle/>
          <a:p>
            <a:pPr marL="0" indent="0">
              <a:buNone/>
            </a:pPr>
            <a:r>
              <a:rPr lang="en-US" sz="1500" b="1" dirty="0">
                <a:solidFill>
                  <a:srgbClr val="1A1A2E"/>
                </a:solidFill>
                <a:latin typeface="Calibri" pitchFamily="34" charset="0"/>
                <a:ea typeface="Calibri" pitchFamily="34" charset="-122"/>
                <a:cs typeface="Calibri" pitchFamily="34" charset="-120"/>
              </a:rPr>
              <a:t>R² 0.618</a:t>
            </a:r>
            <a:endParaRPr lang="en-US" sz="1500" dirty="0"/>
          </a:p>
        </p:txBody>
      </p:sp>
      <p:sp>
        <p:nvSpPr>
          <p:cNvPr id="8" name="Text 6"/>
          <p:cNvSpPr/>
          <p:nvPr/>
        </p:nvSpPr>
        <p:spPr>
          <a:xfrm>
            <a:off x="640080" y="2880360"/>
            <a:ext cx="2286000" cy="365760"/>
          </a:xfrm>
          <a:prstGeom prst="rect">
            <a:avLst/>
          </a:prstGeom>
          <a:noFill/>
          <a:ln/>
        </p:spPr>
        <p:txBody>
          <a:bodyPr wrap="square" rtlCol="0" anchor="ctr"/>
          <a:lstStyle/>
          <a:p>
            <a:pPr marL="0" indent="0">
              <a:buNone/>
            </a:pPr>
            <a:r>
              <a:rPr lang="en-US" sz="1300" dirty="0">
                <a:solidFill>
                  <a:srgbClr val="6B7280"/>
                </a:solidFill>
                <a:latin typeface="Calibri" pitchFamily="34" charset="0"/>
                <a:ea typeface="Calibri" pitchFamily="34" charset="-122"/>
                <a:cs typeface="Calibri" pitchFamily="34" charset="-120"/>
              </a:rPr>
              <a:t>MAE 0.565</a:t>
            </a:r>
            <a:endParaRPr lang="en-US" sz="1300" dirty="0"/>
          </a:p>
        </p:txBody>
      </p:sp>
      <p:sp>
        <p:nvSpPr>
          <p:cNvPr id="9" name="Shape 7"/>
          <p:cNvSpPr/>
          <p:nvPr/>
        </p:nvSpPr>
        <p:spPr>
          <a:xfrm>
            <a:off x="3264408" y="1508760"/>
            <a:ext cx="2606040" cy="1965960"/>
          </a:xfrm>
          <a:prstGeom prst="roundRect">
            <a:avLst>
              <a:gd name="adj" fmla="val 2791"/>
            </a:avLst>
          </a:prstGeom>
          <a:solidFill>
            <a:srgbClr val="1E2761"/>
          </a:solidFill>
          <a:ln/>
          <a:effectLst>
            <a:outerShdw blurRad="76200" dist="25400" dir="5400000" algn="bl" rotWithShape="0">
              <a:srgbClr val="B8C0D0">
                <a:alpha val="50000"/>
              </a:srgbClr>
            </a:outerShdw>
          </a:effectLst>
        </p:spPr>
        <p:txBody>
          <a:bodyPr/>
          <a:lstStyle/>
          <a:p>
            <a:endParaRPr lang="en-US"/>
          </a:p>
        </p:txBody>
      </p:sp>
      <p:sp>
        <p:nvSpPr>
          <p:cNvPr id="10" name="Text 8"/>
          <p:cNvSpPr/>
          <p:nvPr/>
        </p:nvSpPr>
        <p:spPr>
          <a:xfrm>
            <a:off x="3447288" y="1645920"/>
            <a:ext cx="2286000" cy="274320"/>
          </a:xfrm>
          <a:prstGeom prst="rect">
            <a:avLst/>
          </a:prstGeom>
          <a:noFill/>
          <a:ln/>
        </p:spPr>
        <p:txBody>
          <a:bodyPr wrap="square" rtlCol="0" anchor="ctr"/>
          <a:lstStyle/>
          <a:p>
            <a:pPr marL="0" indent="0">
              <a:buNone/>
            </a:pPr>
            <a:r>
              <a:rPr lang="en-US" sz="1100" b="1" dirty="0">
                <a:solidFill>
                  <a:srgbClr val="E56020"/>
                </a:solidFill>
                <a:latin typeface="Calibri" pitchFamily="34" charset="0"/>
                <a:ea typeface="Calibri" pitchFamily="34" charset="-122"/>
                <a:cs typeface="Calibri" pitchFamily="34" charset="-120"/>
              </a:rPr>
              <a:t>FINAL MODEL</a:t>
            </a:r>
            <a:endParaRPr lang="en-US" sz="1100" dirty="0"/>
          </a:p>
        </p:txBody>
      </p:sp>
      <p:sp>
        <p:nvSpPr>
          <p:cNvPr id="11" name="Text 9"/>
          <p:cNvSpPr/>
          <p:nvPr/>
        </p:nvSpPr>
        <p:spPr>
          <a:xfrm>
            <a:off x="3447288" y="1938528"/>
            <a:ext cx="2286000" cy="502920"/>
          </a:xfrm>
          <a:prstGeom prst="rect">
            <a:avLst/>
          </a:prstGeom>
          <a:noFill/>
          <a:ln/>
        </p:spPr>
        <p:txBody>
          <a:bodyPr wrap="square" rtlCol="0" anchor="ctr"/>
          <a:lstStyle/>
          <a:p>
            <a:pPr marL="0" indent="0">
              <a:buNone/>
            </a:pPr>
            <a:r>
              <a:rPr lang="en-US" sz="1600" b="1" dirty="0">
                <a:solidFill>
                  <a:srgbClr val="FFFFFF"/>
                </a:solidFill>
                <a:latin typeface="Cambria" pitchFamily="34" charset="0"/>
                <a:ea typeface="Cambria" pitchFamily="34" charset="-122"/>
                <a:cs typeface="Cambria" pitchFamily="34" charset="-120"/>
              </a:rPr>
              <a:t>Random Forest</a:t>
            </a:r>
            <a:endParaRPr lang="en-US" sz="1600" dirty="0"/>
          </a:p>
        </p:txBody>
      </p:sp>
      <p:sp>
        <p:nvSpPr>
          <p:cNvPr id="12" name="Text 10"/>
          <p:cNvSpPr/>
          <p:nvPr/>
        </p:nvSpPr>
        <p:spPr>
          <a:xfrm>
            <a:off x="3447288" y="2514600"/>
            <a:ext cx="2286000" cy="365760"/>
          </a:xfrm>
          <a:prstGeom prst="rect">
            <a:avLst/>
          </a:prstGeom>
          <a:noFill/>
          <a:ln/>
        </p:spPr>
        <p:txBody>
          <a:bodyPr wrap="square"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R² 0.625</a:t>
            </a:r>
            <a:endParaRPr lang="en-US" sz="1500" dirty="0"/>
          </a:p>
        </p:txBody>
      </p:sp>
      <p:sp>
        <p:nvSpPr>
          <p:cNvPr id="13" name="Text 11"/>
          <p:cNvSpPr/>
          <p:nvPr/>
        </p:nvSpPr>
        <p:spPr>
          <a:xfrm>
            <a:off x="3447288" y="2880360"/>
            <a:ext cx="2286000" cy="365760"/>
          </a:xfrm>
          <a:prstGeom prst="rect">
            <a:avLst/>
          </a:prstGeom>
          <a:noFill/>
          <a:ln/>
        </p:spPr>
        <p:txBody>
          <a:bodyPr wrap="square" rtlCol="0" anchor="ctr"/>
          <a:lstStyle/>
          <a:p>
            <a:pPr marL="0" indent="0">
              <a:buNone/>
            </a:pPr>
            <a:r>
              <a:rPr lang="en-US" sz="1300" dirty="0">
                <a:solidFill>
                  <a:srgbClr val="CADCFC"/>
                </a:solidFill>
                <a:latin typeface="Calibri" pitchFamily="34" charset="0"/>
                <a:ea typeface="Calibri" pitchFamily="34" charset="-122"/>
                <a:cs typeface="Calibri" pitchFamily="34" charset="-120"/>
              </a:rPr>
              <a:t>MAE 0.581</a:t>
            </a:r>
            <a:endParaRPr lang="en-US" sz="1300" dirty="0"/>
          </a:p>
        </p:txBody>
      </p:sp>
      <p:sp>
        <p:nvSpPr>
          <p:cNvPr id="14" name="Text 12"/>
          <p:cNvSpPr/>
          <p:nvPr/>
        </p:nvSpPr>
        <p:spPr>
          <a:xfrm>
            <a:off x="3447288" y="3200400"/>
            <a:ext cx="2286000" cy="228600"/>
          </a:xfrm>
          <a:prstGeom prst="rect">
            <a:avLst/>
          </a:prstGeom>
          <a:noFill/>
          <a:ln/>
        </p:spPr>
        <p:txBody>
          <a:bodyPr wrap="square" rtlCol="0" anchor="ctr"/>
          <a:lstStyle/>
          <a:p>
            <a:pPr marL="0" indent="0">
              <a:buNone/>
            </a:pPr>
            <a:r>
              <a:rPr lang="en-US" sz="1000" b="1" dirty="0">
                <a:solidFill>
                  <a:srgbClr val="E56020"/>
                </a:solidFill>
                <a:latin typeface="Calibri" pitchFamily="34" charset="0"/>
                <a:ea typeface="Calibri" pitchFamily="34" charset="-122"/>
                <a:cs typeface="Calibri" pitchFamily="34" charset="-120"/>
              </a:rPr>
              <a:t>SELECTED</a:t>
            </a:r>
            <a:endParaRPr lang="en-US" sz="1000" dirty="0"/>
          </a:p>
        </p:txBody>
      </p:sp>
      <p:sp>
        <p:nvSpPr>
          <p:cNvPr id="15" name="Shape 13"/>
          <p:cNvSpPr/>
          <p:nvPr/>
        </p:nvSpPr>
        <p:spPr>
          <a:xfrm>
            <a:off x="6071616" y="1508760"/>
            <a:ext cx="2606040" cy="1965960"/>
          </a:xfrm>
          <a:prstGeom prst="roundRect">
            <a:avLst>
              <a:gd name="adj" fmla="val 2791"/>
            </a:avLst>
          </a:prstGeom>
          <a:solidFill>
            <a:srgbClr val="EEF2FB"/>
          </a:solidFill>
          <a:ln/>
          <a:effectLst>
            <a:outerShdw blurRad="76200" dist="25400" dir="5400000" algn="bl" rotWithShape="0">
              <a:srgbClr val="B8C0D0">
                <a:alpha val="50000"/>
              </a:srgbClr>
            </a:outerShdw>
          </a:effectLst>
        </p:spPr>
        <p:txBody>
          <a:bodyPr/>
          <a:lstStyle/>
          <a:p>
            <a:endParaRPr lang="en-US"/>
          </a:p>
        </p:txBody>
      </p:sp>
      <p:sp>
        <p:nvSpPr>
          <p:cNvPr id="16" name="Text 14"/>
          <p:cNvSpPr/>
          <p:nvPr/>
        </p:nvSpPr>
        <p:spPr>
          <a:xfrm>
            <a:off x="6254496" y="1645920"/>
            <a:ext cx="2286000" cy="274320"/>
          </a:xfrm>
          <a:prstGeom prst="rect">
            <a:avLst/>
          </a:prstGeom>
          <a:noFill/>
          <a:ln/>
        </p:spPr>
        <p:txBody>
          <a:bodyPr wrap="square" rtlCol="0" anchor="ctr"/>
          <a:lstStyle/>
          <a:p>
            <a:pPr marL="0" indent="0">
              <a:buNone/>
            </a:pPr>
            <a:r>
              <a:rPr lang="en-US" sz="1100" b="1" dirty="0">
                <a:solidFill>
                  <a:srgbClr val="6B7280"/>
                </a:solidFill>
                <a:latin typeface="Calibri" pitchFamily="34" charset="0"/>
                <a:ea typeface="Calibri" pitchFamily="34" charset="-122"/>
                <a:cs typeface="Calibri" pitchFamily="34" charset="-120"/>
              </a:rPr>
              <a:t>TREE MODEL</a:t>
            </a:r>
            <a:endParaRPr lang="en-US" sz="1100" dirty="0"/>
          </a:p>
        </p:txBody>
      </p:sp>
      <p:sp>
        <p:nvSpPr>
          <p:cNvPr id="17" name="Text 15"/>
          <p:cNvSpPr/>
          <p:nvPr/>
        </p:nvSpPr>
        <p:spPr>
          <a:xfrm>
            <a:off x="6254496" y="1938528"/>
            <a:ext cx="2286000" cy="502920"/>
          </a:xfrm>
          <a:prstGeom prst="rect">
            <a:avLst/>
          </a:prstGeom>
          <a:noFill/>
          <a:ln/>
        </p:spPr>
        <p:txBody>
          <a:bodyPr wrap="square" rtlCol="0" anchor="ctr"/>
          <a:lstStyle/>
          <a:p>
            <a:pPr marL="0" indent="0">
              <a:buNone/>
            </a:pPr>
            <a:r>
              <a:rPr lang="en-US" sz="1600" b="1" dirty="0">
                <a:solidFill>
                  <a:srgbClr val="1E2761"/>
                </a:solidFill>
                <a:latin typeface="Cambria" pitchFamily="34" charset="0"/>
                <a:ea typeface="Cambria" pitchFamily="34" charset="-122"/>
                <a:cs typeface="Cambria" pitchFamily="34" charset="-120"/>
              </a:rPr>
              <a:t>XGBoost</a:t>
            </a:r>
            <a:endParaRPr lang="en-US" sz="1600" dirty="0"/>
          </a:p>
        </p:txBody>
      </p:sp>
      <p:sp>
        <p:nvSpPr>
          <p:cNvPr id="18" name="Text 16"/>
          <p:cNvSpPr/>
          <p:nvPr/>
        </p:nvSpPr>
        <p:spPr>
          <a:xfrm>
            <a:off x="6254496" y="2514600"/>
            <a:ext cx="2286000" cy="365760"/>
          </a:xfrm>
          <a:prstGeom prst="rect">
            <a:avLst/>
          </a:prstGeom>
          <a:noFill/>
          <a:ln/>
        </p:spPr>
        <p:txBody>
          <a:bodyPr wrap="square" rtlCol="0" anchor="ctr"/>
          <a:lstStyle/>
          <a:p>
            <a:pPr marL="0" indent="0">
              <a:buNone/>
            </a:pPr>
            <a:r>
              <a:rPr lang="en-US" sz="1500" b="1" dirty="0">
                <a:solidFill>
                  <a:srgbClr val="1A1A2E"/>
                </a:solidFill>
                <a:latin typeface="Calibri" pitchFamily="34" charset="0"/>
                <a:ea typeface="Calibri" pitchFamily="34" charset="-122"/>
                <a:cs typeface="Calibri" pitchFamily="34" charset="-120"/>
              </a:rPr>
              <a:t>R² 0.624</a:t>
            </a:r>
            <a:endParaRPr lang="en-US" sz="1500" dirty="0"/>
          </a:p>
        </p:txBody>
      </p:sp>
      <p:sp>
        <p:nvSpPr>
          <p:cNvPr id="19" name="Text 17"/>
          <p:cNvSpPr/>
          <p:nvPr/>
        </p:nvSpPr>
        <p:spPr>
          <a:xfrm>
            <a:off x="6254496" y="2880360"/>
            <a:ext cx="2286000" cy="365760"/>
          </a:xfrm>
          <a:prstGeom prst="rect">
            <a:avLst/>
          </a:prstGeom>
          <a:noFill/>
          <a:ln/>
        </p:spPr>
        <p:txBody>
          <a:bodyPr wrap="square" rtlCol="0" anchor="ctr"/>
          <a:lstStyle/>
          <a:p>
            <a:pPr marL="0" indent="0">
              <a:buNone/>
            </a:pPr>
            <a:r>
              <a:rPr lang="en-US" sz="1300" dirty="0">
                <a:solidFill>
                  <a:srgbClr val="6B7280"/>
                </a:solidFill>
                <a:latin typeface="Calibri" pitchFamily="34" charset="0"/>
                <a:ea typeface="Calibri" pitchFamily="34" charset="-122"/>
                <a:cs typeface="Calibri" pitchFamily="34" charset="-120"/>
              </a:rPr>
              <a:t>MAE 0.580</a:t>
            </a:r>
            <a:endParaRPr lang="en-US" sz="1300" dirty="0"/>
          </a:p>
        </p:txBody>
      </p:sp>
      <p:sp>
        <p:nvSpPr>
          <p:cNvPr id="20" name="Shape 18"/>
          <p:cNvSpPr/>
          <p:nvPr/>
        </p:nvSpPr>
        <p:spPr>
          <a:xfrm>
            <a:off x="457200" y="3657600"/>
            <a:ext cx="8229600" cy="914400"/>
          </a:xfrm>
          <a:prstGeom prst="roundRect">
            <a:avLst>
              <a:gd name="adj" fmla="val 6000"/>
            </a:avLst>
          </a:prstGeom>
          <a:solidFill>
            <a:srgbClr val="EEF2FB"/>
          </a:solidFill>
          <a:ln/>
          <a:effectLst>
            <a:outerShdw blurRad="76200" dist="25400" dir="5400000" algn="bl" rotWithShape="0">
              <a:srgbClr val="B8C0D0">
                <a:alpha val="50000"/>
              </a:srgbClr>
            </a:outerShdw>
          </a:effectLst>
        </p:spPr>
        <p:txBody>
          <a:bodyPr/>
          <a:lstStyle/>
          <a:p>
            <a:endParaRPr lang="en-US"/>
          </a:p>
        </p:txBody>
      </p:sp>
      <p:sp>
        <p:nvSpPr>
          <p:cNvPr id="21" name="Text 19"/>
          <p:cNvSpPr/>
          <p:nvPr/>
        </p:nvSpPr>
        <p:spPr>
          <a:xfrm>
            <a:off x="685800" y="3749040"/>
            <a:ext cx="7772400" cy="777240"/>
          </a:xfrm>
          <a:prstGeom prst="rect">
            <a:avLst/>
          </a:prstGeom>
          <a:noFill/>
          <a:ln/>
        </p:spPr>
        <p:txBody>
          <a:bodyPr wrap="square" rtlCol="0" anchor="ctr"/>
          <a:lstStyle/>
          <a:p>
            <a:pPr marL="0" indent="0">
              <a:buNone/>
            </a:pPr>
            <a:r>
              <a:rPr lang="en-US" sz="1200" dirty="0">
                <a:solidFill>
                  <a:srgbClr val="1A1A2E"/>
                </a:solidFill>
                <a:latin typeface="Calibri" pitchFamily="34" charset="0"/>
                <a:ea typeface="Calibri" pitchFamily="34" charset="-122"/>
                <a:cs typeface="Calibri" pitchFamily="34" charset="-120"/>
              </a:rPr>
              <a:t>Random Forest was tuned with GridSearchCV (500 trees, max depth 10). Metrics are on the log salary scale, where an R squared near 0.62 means the model explains about 62% of salary variance. The models are close on the small test set, so the more stable cross validated score guided the choice</a:t>
            </a:r>
            <a:endParaRPr lang="en-US" sz="1200" dirty="0"/>
          </a:p>
        </p:txBody>
      </p:sp>
      <p:sp>
        <p:nvSpPr>
          <p:cNvPr id="22" name="Text 20"/>
          <p:cNvSpPr/>
          <p:nvPr/>
        </p:nvSpPr>
        <p:spPr>
          <a:xfrm>
            <a:off x="8549640" y="4709160"/>
            <a:ext cx="365760" cy="274320"/>
          </a:xfrm>
          <a:prstGeom prst="rect">
            <a:avLst/>
          </a:prstGeom>
          <a:noFill/>
          <a:ln/>
        </p:spPr>
        <p:txBody>
          <a:bodyPr wrap="square" rtlCol="0" anchor="ctr"/>
          <a:lstStyle/>
          <a:p>
            <a:pPr marL="0" indent="0" algn="r">
              <a:buNone/>
            </a:pPr>
            <a:r>
              <a:rPr lang="en-US" sz="1000" dirty="0">
                <a:solidFill>
                  <a:srgbClr val="6B7280"/>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8229600" cy="640080"/>
          </a:xfrm>
          <a:prstGeom prst="rect">
            <a:avLst/>
          </a:prstGeom>
          <a:noFill/>
          <a:ln/>
        </p:spPr>
        <p:txBody>
          <a:bodyPr wrap="square"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Feature Importance</a:t>
            </a:r>
            <a:endParaRPr lang="en-US" sz="3000" dirty="0"/>
          </a:p>
        </p:txBody>
      </p:sp>
      <p:pic>
        <p:nvPicPr>
          <p:cNvPr id="3" name="Image 0" descr="preencoded.png"/>
          <p:cNvPicPr>
            <a:picLocks noChangeAspect="1"/>
          </p:cNvPicPr>
          <p:nvPr/>
        </p:nvPicPr>
        <p:blipFill>
          <a:blip r:embed="rId3"/>
          <a:stretch>
            <a:fillRect/>
          </a:stretch>
        </p:blipFill>
        <p:spPr>
          <a:xfrm>
            <a:off x="320040" y="1234440"/>
            <a:ext cx="4434840" cy="2926080"/>
          </a:xfrm>
          <a:prstGeom prst="rect">
            <a:avLst/>
          </a:prstGeom>
        </p:spPr>
      </p:pic>
      <p:sp>
        <p:nvSpPr>
          <p:cNvPr id="4" name="Shape 1"/>
          <p:cNvSpPr/>
          <p:nvPr/>
        </p:nvSpPr>
        <p:spPr>
          <a:xfrm>
            <a:off x="4937760" y="1371600"/>
            <a:ext cx="3840480" cy="1097280"/>
          </a:xfrm>
          <a:prstGeom prst="roundRect">
            <a:avLst>
              <a:gd name="adj" fmla="val 5000"/>
            </a:avLst>
          </a:prstGeom>
          <a:solidFill>
            <a:srgbClr val="EEF2FB"/>
          </a:solidFill>
          <a:ln/>
          <a:effectLst>
            <a:outerShdw blurRad="76200" dist="25400" dir="5400000" algn="bl" rotWithShape="0">
              <a:srgbClr val="B8C0D0">
                <a:alpha val="50000"/>
              </a:srgbClr>
            </a:outerShdw>
          </a:effectLst>
        </p:spPr>
        <p:txBody>
          <a:bodyPr/>
          <a:lstStyle/>
          <a:p>
            <a:endParaRPr lang="en-US"/>
          </a:p>
        </p:txBody>
      </p:sp>
      <p:sp>
        <p:nvSpPr>
          <p:cNvPr id="5" name="Text 2"/>
          <p:cNvSpPr/>
          <p:nvPr/>
        </p:nvSpPr>
        <p:spPr>
          <a:xfrm>
            <a:off x="5074920" y="1463040"/>
            <a:ext cx="640080" cy="457200"/>
          </a:xfrm>
          <a:prstGeom prst="rect">
            <a:avLst/>
          </a:prstGeom>
          <a:noFill/>
          <a:ln/>
        </p:spPr>
        <p:txBody>
          <a:bodyPr wrap="square" rtlCol="0" anchor="ctr"/>
          <a:lstStyle/>
          <a:p>
            <a:pPr marL="0" indent="0">
              <a:buNone/>
            </a:pPr>
            <a:r>
              <a:rPr lang="en-US" sz="2400" b="1" dirty="0">
                <a:solidFill>
                  <a:srgbClr val="E56020"/>
                </a:solidFill>
                <a:latin typeface="Cambria" pitchFamily="34" charset="0"/>
                <a:ea typeface="Cambria" pitchFamily="34" charset="-122"/>
                <a:cs typeface="Cambria" pitchFamily="34" charset="-120"/>
              </a:rPr>
              <a:t>#1</a:t>
            </a:r>
            <a:endParaRPr lang="en-US" sz="2400" dirty="0"/>
          </a:p>
        </p:txBody>
      </p:sp>
      <p:sp>
        <p:nvSpPr>
          <p:cNvPr id="6" name="Text 3"/>
          <p:cNvSpPr/>
          <p:nvPr/>
        </p:nvSpPr>
        <p:spPr>
          <a:xfrm>
            <a:off x="5715000" y="1481328"/>
            <a:ext cx="2926080" cy="365760"/>
          </a:xfrm>
          <a:prstGeom prst="rect">
            <a:avLst/>
          </a:prstGeom>
          <a:noFill/>
          <a:ln/>
        </p:spPr>
        <p:txBody>
          <a:bodyPr wrap="square" rtlCol="0" anchor="ctr"/>
          <a:lstStyle/>
          <a:p>
            <a:pPr marL="0" indent="0">
              <a:buNone/>
            </a:pPr>
            <a:r>
              <a:rPr lang="en-US" sz="1500" b="1" dirty="0">
                <a:solidFill>
                  <a:srgbClr val="1E2761"/>
                </a:solidFill>
                <a:latin typeface="Calibri" pitchFamily="34" charset="0"/>
                <a:ea typeface="Calibri" pitchFamily="34" charset="-122"/>
                <a:cs typeface="Calibri" pitchFamily="34" charset="-120"/>
              </a:rPr>
              <a:t>years_experience</a:t>
            </a:r>
            <a:endParaRPr lang="en-US" sz="1500" dirty="0"/>
          </a:p>
        </p:txBody>
      </p:sp>
      <p:sp>
        <p:nvSpPr>
          <p:cNvPr id="7" name="Text 4"/>
          <p:cNvSpPr/>
          <p:nvPr/>
        </p:nvSpPr>
        <p:spPr>
          <a:xfrm>
            <a:off x="5715000" y="1847088"/>
            <a:ext cx="2971800" cy="566928"/>
          </a:xfrm>
          <a:prstGeom prst="rect">
            <a:avLst/>
          </a:prstGeom>
          <a:noFill/>
          <a:ln/>
        </p:spPr>
        <p:txBody>
          <a:bodyPr wrap="square" rtlCol="0" anchor="ctr"/>
          <a:lstStyle/>
          <a:p>
            <a:pPr marL="0" indent="0">
              <a:buNone/>
            </a:pPr>
            <a:r>
              <a:rPr lang="en-US" sz="1150" dirty="0">
                <a:solidFill>
                  <a:srgbClr val="1A1A2E"/>
                </a:solidFill>
                <a:latin typeface="Calibri" pitchFamily="34" charset="0"/>
                <a:ea typeface="Calibri" pitchFamily="34" charset="-122"/>
                <a:cs typeface="Calibri" pitchFamily="34" charset="-120"/>
              </a:rPr>
              <a:t>Tenure sets contract eligibility and the maximum salary tier.</a:t>
            </a:r>
            <a:endParaRPr lang="en-US" sz="1150" dirty="0"/>
          </a:p>
        </p:txBody>
      </p:sp>
      <p:sp>
        <p:nvSpPr>
          <p:cNvPr id="8" name="Shape 5"/>
          <p:cNvSpPr/>
          <p:nvPr/>
        </p:nvSpPr>
        <p:spPr>
          <a:xfrm>
            <a:off x="4937760" y="2606040"/>
            <a:ext cx="3840480" cy="1097280"/>
          </a:xfrm>
          <a:prstGeom prst="roundRect">
            <a:avLst>
              <a:gd name="adj" fmla="val 5000"/>
            </a:avLst>
          </a:prstGeom>
          <a:solidFill>
            <a:srgbClr val="EEF2FB"/>
          </a:solidFill>
          <a:ln/>
          <a:effectLst>
            <a:outerShdw blurRad="76200" dist="25400" dir="5400000" algn="bl" rotWithShape="0">
              <a:srgbClr val="B8C0D0">
                <a:alpha val="50000"/>
              </a:srgbClr>
            </a:outerShdw>
          </a:effectLst>
        </p:spPr>
        <p:txBody>
          <a:bodyPr/>
          <a:lstStyle/>
          <a:p>
            <a:endParaRPr lang="en-US"/>
          </a:p>
        </p:txBody>
      </p:sp>
      <p:sp>
        <p:nvSpPr>
          <p:cNvPr id="9" name="Text 6"/>
          <p:cNvSpPr/>
          <p:nvPr/>
        </p:nvSpPr>
        <p:spPr>
          <a:xfrm>
            <a:off x="5074920" y="2697480"/>
            <a:ext cx="640080" cy="457200"/>
          </a:xfrm>
          <a:prstGeom prst="rect">
            <a:avLst/>
          </a:prstGeom>
          <a:noFill/>
          <a:ln/>
        </p:spPr>
        <p:txBody>
          <a:bodyPr wrap="square" rtlCol="0" anchor="ctr"/>
          <a:lstStyle/>
          <a:p>
            <a:pPr marL="0" indent="0">
              <a:buNone/>
            </a:pPr>
            <a:r>
              <a:rPr lang="en-US" sz="2400" b="1" dirty="0">
                <a:solidFill>
                  <a:srgbClr val="E56020"/>
                </a:solidFill>
                <a:latin typeface="Cambria" pitchFamily="34" charset="0"/>
                <a:ea typeface="Cambria" pitchFamily="34" charset="-122"/>
                <a:cs typeface="Cambria" pitchFamily="34" charset="-120"/>
              </a:rPr>
              <a:t>#2</a:t>
            </a:r>
            <a:endParaRPr lang="en-US" sz="2400" dirty="0"/>
          </a:p>
        </p:txBody>
      </p:sp>
      <p:sp>
        <p:nvSpPr>
          <p:cNvPr id="10" name="Text 7"/>
          <p:cNvSpPr/>
          <p:nvPr/>
        </p:nvSpPr>
        <p:spPr>
          <a:xfrm>
            <a:off x="5715000" y="2715768"/>
            <a:ext cx="2926080" cy="365760"/>
          </a:xfrm>
          <a:prstGeom prst="rect">
            <a:avLst/>
          </a:prstGeom>
          <a:noFill/>
          <a:ln/>
        </p:spPr>
        <p:txBody>
          <a:bodyPr wrap="square" rtlCol="0" anchor="ctr"/>
          <a:lstStyle/>
          <a:p>
            <a:pPr marL="0" indent="0">
              <a:buNone/>
            </a:pPr>
            <a:r>
              <a:rPr lang="en-US" sz="1500" b="1" dirty="0">
                <a:solidFill>
                  <a:srgbClr val="1E2761"/>
                </a:solidFill>
                <a:latin typeface="Calibri" pitchFamily="34" charset="0"/>
                <a:ea typeface="Calibri" pitchFamily="34" charset="-122"/>
                <a:cs typeface="Calibri" pitchFamily="34" charset="-120"/>
              </a:rPr>
              <a:t>mpg</a:t>
            </a:r>
            <a:endParaRPr lang="en-US" sz="1500" dirty="0"/>
          </a:p>
        </p:txBody>
      </p:sp>
      <p:sp>
        <p:nvSpPr>
          <p:cNvPr id="11" name="Text 8"/>
          <p:cNvSpPr/>
          <p:nvPr/>
        </p:nvSpPr>
        <p:spPr>
          <a:xfrm>
            <a:off x="5715000" y="3081528"/>
            <a:ext cx="2971800" cy="566928"/>
          </a:xfrm>
          <a:prstGeom prst="rect">
            <a:avLst/>
          </a:prstGeom>
          <a:noFill/>
          <a:ln/>
        </p:spPr>
        <p:txBody>
          <a:bodyPr wrap="square" rtlCol="0" anchor="ctr"/>
          <a:lstStyle/>
          <a:p>
            <a:pPr marL="0" indent="0">
              <a:buNone/>
            </a:pPr>
            <a:r>
              <a:rPr lang="en-US" sz="1150" dirty="0">
                <a:solidFill>
                  <a:srgbClr val="1A1A2E"/>
                </a:solidFill>
                <a:latin typeface="Calibri" pitchFamily="34" charset="0"/>
                <a:ea typeface="Calibri" pitchFamily="34" charset="-122"/>
                <a:cs typeface="Calibri" pitchFamily="34" charset="-120"/>
              </a:rPr>
              <a:t>Minutes per game reflect role and carry the volume that per 36 stats remove.</a:t>
            </a:r>
            <a:endParaRPr lang="en-US" sz="1150" dirty="0"/>
          </a:p>
        </p:txBody>
      </p:sp>
      <p:sp>
        <p:nvSpPr>
          <p:cNvPr id="12" name="Shape 9"/>
          <p:cNvSpPr/>
          <p:nvPr/>
        </p:nvSpPr>
        <p:spPr>
          <a:xfrm>
            <a:off x="4937760" y="3886200"/>
            <a:ext cx="3840480" cy="658368"/>
          </a:xfrm>
          <a:prstGeom prst="roundRect">
            <a:avLst>
              <a:gd name="adj" fmla="val 8333"/>
            </a:avLst>
          </a:prstGeom>
          <a:solidFill>
            <a:srgbClr val="1E2761"/>
          </a:solidFill>
          <a:ln/>
          <a:effectLst>
            <a:outerShdw blurRad="76200" dist="25400" dir="5400000" algn="bl" rotWithShape="0">
              <a:srgbClr val="B8C0D0">
                <a:alpha val="50000"/>
              </a:srgbClr>
            </a:outerShdw>
          </a:effectLst>
        </p:spPr>
        <p:txBody>
          <a:bodyPr/>
          <a:lstStyle/>
          <a:p>
            <a:endParaRPr lang="en-US"/>
          </a:p>
        </p:txBody>
      </p:sp>
      <p:sp>
        <p:nvSpPr>
          <p:cNvPr id="13" name="Text 10"/>
          <p:cNvSpPr/>
          <p:nvPr/>
        </p:nvSpPr>
        <p:spPr>
          <a:xfrm>
            <a:off x="5120640" y="3931920"/>
            <a:ext cx="3520440" cy="566928"/>
          </a:xfrm>
          <a:prstGeom prst="rect">
            <a:avLst/>
          </a:prstGeom>
          <a:noFill/>
          <a:ln/>
        </p:spPr>
        <p:txBody>
          <a:bodyPr wrap="square" rtlCol="0" anchor="ctr"/>
          <a:lstStyle/>
          <a:p>
            <a:pPr marL="0" indent="0">
              <a:buNone/>
            </a:pPr>
            <a:r>
              <a:rPr lang="en-US" sz="1200" b="1" i="1" dirty="0">
                <a:solidFill>
                  <a:srgbClr val="FFFFFF"/>
                </a:solidFill>
                <a:latin typeface="Calibri" pitchFamily="34" charset="0"/>
                <a:ea typeface="Calibri" pitchFamily="34" charset="-122"/>
                <a:cs typeface="Calibri" pitchFamily="34" charset="-120"/>
              </a:rPr>
              <a:t>The market prices seniority and role more visibly than per minute production.</a:t>
            </a:r>
            <a:endParaRPr lang="en-US" sz="1200" dirty="0"/>
          </a:p>
        </p:txBody>
      </p:sp>
      <p:sp>
        <p:nvSpPr>
          <p:cNvPr id="14" name="Text 11"/>
          <p:cNvSpPr/>
          <p:nvPr/>
        </p:nvSpPr>
        <p:spPr>
          <a:xfrm>
            <a:off x="8549640" y="4709160"/>
            <a:ext cx="365760" cy="274320"/>
          </a:xfrm>
          <a:prstGeom prst="rect">
            <a:avLst/>
          </a:prstGeom>
          <a:noFill/>
          <a:ln/>
        </p:spPr>
        <p:txBody>
          <a:bodyPr wrap="square" rtlCol="0" anchor="ctr"/>
          <a:lstStyle/>
          <a:p>
            <a:pPr marL="0" indent="0" algn="r">
              <a:buNone/>
            </a:pPr>
            <a:r>
              <a:rPr lang="en-US" sz="1000" dirty="0">
                <a:solidFill>
                  <a:srgbClr val="6B7280"/>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8229600" cy="640080"/>
          </a:xfrm>
          <a:prstGeom prst="rect">
            <a:avLst/>
          </a:prstGeom>
          <a:noFill/>
          <a:ln/>
        </p:spPr>
        <p:txBody>
          <a:bodyPr wrap="square"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Overpaid and Underpaid Players</a:t>
            </a:r>
            <a:endParaRPr lang="en-US" sz="3000" dirty="0"/>
          </a:p>
        </p:txBody>
      </p:sp>
      <p:pic>
        <p:nvPicPr>
          <p:cNvPr id="3" name="Image 0" descr="preencoded.png"/>
          <p:cNvPicPr>
            <a:picLocks noChangeAspect="1"/>
          </p:cNvPicPr>
          <p:nvPr/>
        </p:nvPicPr>
        <p:blipFill>
          <a:blip r:embed="rId3"/>
          <a:stretch>
            <a:fillRect/>
          </a:stretch>
        </p:blipFill>
        <p:spPr>
          <a:xfrm>
            <a:off x="320040" y="1280160"/>
            <a:ext cx="4572000" cy="2423160"/>
          </a:xfrm>
          <a:prstGeom prst="rect">
            <a:avLst/>
          </a:prstGeom>
        </p:spPr>
      </p:pic>
      <p:sp>
        <p:nvSpPr>
          <p:cNvPr id="4" name="Text 1"/>
          <p:cNvSpPr/>
          <p:nvPr/>
        </p:nvSpPr>
        <p:spPr>
          <a:xfrm>
            <a:off x="320040" y="3730752"/>
            <a:ext cx="4572000" cy="320040"/>
          </a:xfrm>
          <a:prstGeom prst="rect">
            <a:avLst/>
          </a:prstGeom>
          <a:noFill/>
          <a:ln/>
        </p:spPr>
        <p:txBody>
          <a:bodyPr wrap="square" rtlCol="0" anchor="ctr"/>
          <a:lstStyle/>
          <a:p>
            <a:pPr marL="0" indent="0" algn="ctr">
              <a:buNone/>
            </a:pPr>
            <a:r>
              <a:rPr lang="en-US" sz="1000" i="1" dirty="0">
                <a:solidFill>
                  <a:srgbClr val="6B7280"/>
                </a:solidFill>
                <a:latin typeface="Calibri" pitchFamily="34" charset="0"/>
                <a:ea typeface="Calibri" pitchFamily="34" charset="-122"/>
                <a:cs typeface="Calibri" pitchFamily="34" charset="-120"/>
              </a:rPr>
              <a:t>Overpayment rises with the tier of the group</a:t>
            </a:r>
            <a:endParaRPr lang="en-US" sz="1000" dirty="0"/>
          </a:p>
        </p:txBody>
      </p:sp>
      <p:sp>
        <p:nvSpPr>
          <p:cNvPr id="5" name="Shape 2"/>
          <p:cNvSpPr/>
          <p:nvPr/>
        </p:nvSpPr>
        <p:spPr>
          <a:xfrm>
            <a:off x="5074920" y="1280160"/>
            <a:ext cx="3703320" cy="1572768"/>
          </a:xfrm>
          <a:prstGeom prst="roundRect">
            <a:avLst>
              <a:gd name="adj" fmla="val 3488"/>
            </a:avLst>
          </a:prstGeom>
          <a:solidFill>
            <a:srgbClr val="FFFFFF"/>
          </a:solidFill>
          <a:ln/>
          <a:effectLst>
            <a:outerShdw blurRad="76200" dist="25400" dir="5400000" algn="bl" rotWithShape="0">
              <a:srgbClr val="B8C0D0">
                <a:alpha val="50000"/>
              </a:srgbClr>
            </a:outerShdw>
          </a:effectLst>
        </p:spPr>
        <p:txBody>
          <a:bodyPr/>
          <a:lstStyle/>
          <a:p>
            <a:endParaRPr lang="en-US"/>
          </a:p>
        </p:txBody>
      </p:sp>
      <p:sp>
        <p:nvSpPr>
          <p:cNvPr id="6" name="Text 3"/>
          <p:cNvSpPr/>
          <p:nvPr/>
        </p:nvSpPr>
        <p:spPr>
          <a:xfrm>
            <a:off x="5257800" y="1371600"/>
            <a:ext cx="3383280" cy="292608"/>
          </a:xfrm>
          <a:prstGeom prst="rect">
            <a:avLst/>
          </a:prstGeom>
          <a:noFill/>
          <a:ln/>
        </p:spPr>
        <p:txBody>
          <a:bodyPr wrap="square" rtlCol="0" anchor="ctr"/>
          <a:lstStyle/>
          <a:p>
            <a:pPr marL="0" indent="0">
              <a:buNone/>
            </a:pPr>
            <a:r>
              <a:rPr lang="en-US" sz="1300" b="1" dirty="0">
                <a:solidFill>
                  <a:srgbClr val="C0392B"/>
                </a:solidFill>
                <a:latin typeface="Calibri" pitchFamily="34" charset="0"/>
                <a:ea typeface="Calibri" pitchFamily="34" charset="-122"/>
                <a:cs typeface="Calibri" pitchFamily="34" charset="-120"/>
              </a:rPr>
              <a:t>Most overpaid</a:t>
            </a:r>
            <a:endParaRPr lang="en-US" sz="1300" dirty="0"/>
          </a:p>
        </p:txBody>
      </p:sp>
      <p:sp>
        <p:nvSpPr>
          <p:cNvPr id="7" name="Text 4"/>
          <p:cNvSpPr/>
          <p:nvPr/>
        </p:nvSpPr>
        <p:spPr>
          <a:xfrm>
            <a:off x="5257800" y="1691640"/>
            <a:ext cx="3383280" cy="1097280"/>
          </a:xfrm>
          <a:prstGeom prst="rect">
            <a:avLst/>
          </a:prstGeom>
          <a:noFill/>
          <a:ln/>
        </p:spPr>
        <p:txBody>
          <a:bodyPr wrap="square" rtlCol="0" anchor="ctr"/>
          <a:lstStyle/>
          <a:p>
            <a:pPr marL="0" indent="0">
              <a:spcAft>
                <a:spcPts val="300"/>
              </a:spcAft>
              <a:buNone/>
            </a:pPr>
            <a:r>
              <a:rPr lang="en-US" sz="1200" dirty="0">
                <a:solidFill>
                  <a:srgbClr val="1A1A2E"/>
                </a:solidFill>
                <a:latin typeface="Calibri" pitchFamily="34" charset="0"/>
                <a:ea typeface="Calibri" pitchFamily="34" charset="-122"/>
                <a:cs typeface="Calibri" pitchFamily="34" charset="-120"/>
              </a:rPr>
              <a:t>Jimmy Butler   +$30.9M</a:t>
            </a:r>
            <a:endParaRPr lang="en-US" sz="1200" dirty="0"/>
          </a:p>
          <a:p>
            <a:pPr marL="0" indent="0">
              <a:spcAft>
                <a:spcPts val="300"/>
              </a:spcAft>
              <a:buNone/>
            </a:pPr>
            <a:r>
              <a:rPr lang="en-US" sz="1200" dirty="0">
                <a:solidFill>
                  <a:srgbClr val="1A1A2E"/>
                </a:solidFill>
                <a:latin typeface="Calibri" pitchFamily="34" charset="0"/>
                <a:ea typeface="Calibri" pitchFamily="34" charset="-122"/>
                <a:cs typeface="Calibri" pitchFamily="34" charset="-120"/>
              </a:rPr>
              <a:t>Kevin Durant   +$27.5M</a:t>
            </a:r>
            <a:endParaRPr lang="en-US" sz="1200" dirty="0"/>
          </a:p>
          <a:p>
            <a:pPr marL="0" indent="0">
              <a:spcAft>
                <a:spcPts val="300"/>
              </a:spcAft>
              <a:buNone/>
            </a:pPr>
            <a:r>
              <a:rPr lang="en-US" sz="1200" dirty="0">
                <a:solidFill>
                  <a:srgbClr val="1A1A2E"/>
                </a:solidFill>
                <a:latin typeface="Calibri" pitchFamily="34" charset="0"/>
                <a:ea typeface="Calibri" pitchFamily="34" charset="-122"/>
                <a:cs typeface="Calibri" pitchFamily="34" charset="-120"/>
              </a:rPr>
              <a:t>Giannis Antetokounmpo   +$27.4M</a:t>
            </a:r>
            <a:endParaRPr lang="en-US" sz="1200" dirty="0"/>
          </a:p>
          <a:p>
            <a:pPr marL="0" indent="0">
              <a:spcAft>
                <a:spcPts val="300"/>
              </a:spcAft>
              <a:buNone/>
            </a:pPr>
            <a:r>
              <a:rPr lang="en-US" sz="1200" dirty="0">
                <a:solidFill>
                  <a:srgbClr val="1A1A2E"/>
                </a:solidFill>
                <a:latin typeface="Calibri" pitchFamily="34" charset="0"/>
                <a:ea typeface="Calibri" pitchFamily="34" charset="-122"/>
                <a:cs typeface="Calibri" pitchFamily="34" charset="-120"/>
              </a:rPr>
              <a:t>Paul George   +$27.0M</a:t>
            </a:r>
            <a:endParaRPr lang="en-US" sz="1200" dirty="0"/>
          </a:p>
        </p:txBody>
      </p:sp>
      <p:sp>
        <p:nvSpPr>
          <p:cNvPr id="8" name="Shape 5"/>
          <p:cNvSpPr/>
          <p:nvPr/>
        </p:nvSpPr>
        <p:spPr>
          <a:xfrm>
            <a:off x="5074920" y="2971800"/>
            <a:ext cx="3703320" cy="1572768"/>
          </a:xfrm>
          <a:prstGeom prst="roundRect">
            <a:avLst>
              <a:gd name="adj" fmla="val 3488"/>
            </a:avLst>
          </a:prstGeom>
          <a:solidFill>
            <a:srgbClr val="FFFFFF"/>
          </a:solidFill>
          <a:ln/>
          <a:effectLst>
            <a:outerShdw blurRad="76200" dist="25400" dir="5400000" algn="bl" rotWithShape="0">
              <a:srgbClr val="B8C0D0">
                <a:alpha val="50000"/>
              </a:srgbClr>
            </a:outerShdw>
          </a:effectLst>
        </p:spPr>
        <p:txBody>
          <a:bodyPr/>
          <a:lstStyle/>
          <a:p>
            <a:endParaRPr lang="en-US"/>
          </a:p>
        </p:txBody>
      </p:sp>
      <p:sp>
        <p:nvSpPr>
          <p:cNvPr id="9" name="Text 6"/>
          <p:cNvSpPr/>
          <p:nvPr/>
        </p:nvSpPr>
        <p:spPr>
          <a:xfrm>
            <a:off x="5257800" y="3063240"/>
            <a:ext cx="3383280" cy="292608"/>
          </a:xfrm>
          <a:prstGeom prst="rect">
            <a:avLst/>
          </a:prstGeom>
          <a:noFill/>
          <a:ln/>
        </p:spPr>
        <p:txBody>
          <a:bodyPr wrap="square" rtlCol="0" anchor="ctr"/>
          <a:lstStyle/>
          <a:p>
            <a:pPr marL="0" indent="0">
              <a:buNone/>
            </a:pPr>
            <a:r>
              <a:rPr lang="en-US" sz="1300" b="1" dirty="0">
                <a:solidFill>
                  <a:srgbClr val="2C7A4B"/>
                </a:solidFill>
                <a:latin typeface="Calibri" pitchFamily="34" charset="0"/>
                <a:ea typeface="Calibri" pitchFamily="34" charset="-122"/>
                <a:cs typeface="Calibri" pitchFamily="34" charset="-120"/>
              </a:rPr>
              <a:t>Most underpaid</a:t>
            </a:r>
            <a:endParaRPr lang="en-US" sz="1300" dirty="0"/>
          </a:p>
        </p:txBody>
      </p:sp>
      <p:sp>
        <p:nvSpPr>
          <p:cNvPr id="10" name="Text 7"/>
          <p:cNvSpPr/>
          <p:nvPr/>
        </p:nvSpPr>
        <p:spPr>
          <a:xfrm>
            <a:off x="5257800" y="3383280"/>
            <a:ext cx="3383280" cy="1097280"/>
          </a:xfrm>
          <a:prstGeom prst="rect">
            <a:avLst/>
          </a:prstGeom>
          <a:noFill/>
          <a:ln/>
        </p:spPr>
        <p:txBody>
          <a:bodyPr wrap="square" rtlCol="0" anchor="ctr"/>
          <a:lstStyle/>
          <a:p>
            <a:pPr marL="0" indent="0">
              <a:spcAft>
                <a:spcPts val="300"/>
              </a:spcAft>
              <a:buNone/>
            </a:pPr>
            <a:r>
              <a:rPr lang="en-US" sz="1200" dirty="0">
                <a:solidFill>
                  <a:srgbClr val="1A1A2E"/>
                </a:solidFill>
                <a:latin typeface="Calibri" pitchFamily="34" charset="0"/>
                <a:ea typeface="Calibri" pitchFamily="34" charset="-122"/>
                <a:cs typeface="Calibri" pitchFamily="34" charset="-120"/>
              </a:rPr>
              <a:t>Deni Avdija   -$22.7M</a:t>
            </a:r>
            <a:endParaRPr lang="en-US" sz="1200" dirty="0"/>
          </a:p>
          <a:p>
            <a:pPr marL="0" indent="0">
              <a:spcAft>
                <a:spcPts val="300"/>
              </a:spcAft>
              <a:buNone/>
            </a:pPr>
            <a:r>
              <a:rPr lang="en-US" sz="1200" dirty="0">
                <a:solidFill>
                  <a:srgbClr val="1A1A2E"/>
                </a:solidFill>
                <a:latin typeface="Calibri" pitchFamily="34" charset="0"/>
                <a:ea typeface="Calibri" pitchFamily="34" charset="-122"/>
                <a:cs typeface="Calibri" pitchFamily="34" charset="-120"/>
              </a:rPr>
              <a:t>Russell Westbrook   -$20.9M</a:t>
            </a:r>
            <a:endParaRPr lang="en-US" sz="1200" dirty="0"/>
          </a:p>
          <a:p>
            <a:pPr marL="0" indent="0">
              <a:spcAft>
                <a:spcPts val="300"/>
              </a:spcAft>
              <a:buNone/>
            </a:pPr>
            <a:r>
              <a:rPr lang="en-US" sz="1200" dirty="0">
                <a:solidFill>
                  <a:srgbClr val="1A1A2E"/>
                </a:solidFill>
                <a:latin typeface="Calibri" pitchFamily="34" charset="0"/>
                <a:ea typeface="Calibri" pitchFamily="34" charset="-122"/>
                <a:cs typeface="Calibri" pitchFamily="34" charset="-120"/>
              </a:rPr>
              <a:t>Austin Reaves   -$19.8M</a:t>
            </a:r>
            <a:endParaRPr lang="en-US" sz="1200" dirty="0"/>
          </a:p>
          <a:p>
            <a:pPr marL="0" indent="0">
              <a:spcAft>
                <a:spcPts val="300"/>
              </a:spcAft>
              <a:buNone/>
            </a:pPr>
            <a:r>
              <a:rPr lang="en-US" sz="1200" dirty="0">
                <a:solidFill>
                  <a:srgbClr val="1A1A2E"/>
                </a:solidFill>
                <a:latin typeface="Calibri" pitchFamily="34" charset="0"/>
                <a:ea typeface="Calibri" pitchFamily="34" charset="-122"/>
                <a:cs typeface="Calibri" pitchFamily="34" charset="-120"/>
              </a:rPr>
              <a:t>Saddiq Bey   -$18.4M</a:t>
            </a:r>
            <a:endParaRPr lang="en-US" sz="1200" dirty="0"/>
          </a:p>
        </p:txBody>
      </p:sp>
      <p:sp>
        <p:nvSpPr>
          <p:cNvPr id="11" name="Text 8"/>
          <p:cNvSpPr/>
          <p:nvPr/>
        </p:nvSpPr>
        <p:spPr>
          <a:xfrm>
            <a:off x="8549640" y="4709160"/>
            <a:ext cx="365760" cy="274320"/>
          </a:xfrm>
          <a:prstGeom prst="rect">
            <a:avLst/>
          </a:prstGeom>
          <a:noFill/>
          <a:ln/>
        </p:spPr>
        <p:txBody>
          <a:bodyPr wrap="square" rtlCol="0" anchor="ctr"/>
          <a:lstStyle/>
          <a:p>
            <a:pPr marL="0" indent="0" algn="r">
              <a:buNone/>
            </a:pPr>
            <a:r>
              <a:rPr lang="en-US" sz="1000" dirty="0">
                <a:solidFill>
                  <a:srgbClr val="6B7280"/>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8229600" cy="640080"/>
          </a:xfrm>
          <a:prstGeom prst="rect">
            <a:avLst/>
          </a:prstGeom>
          <a:noFill/>
          <a:ln/>
        </p:spPr>
        <p:txBody>
          <a:bodyPr wrap="square"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Recommendations</a:t>
            </a:r>
            <a:endParaRPr lang="en-US" sz="3000" dirty="0"/>
          </a:p>
        </p:txBody>
      </p:sp>
      <p:sp>
        <p:nvSpPr>
          <p:cNvPr id="3" name="Shape 1"/>
          <p:cNvSpPr/>
          <p:nvPr/>
        </p:nvSpPr>
        <p:spPr>
          <a:xfrm>
            <a:off x="457200" y="1234440"/>
            <a:ext cx="8229600" cy="960120"/>
          </a:xfrm>
          <a:prstGeom prst="roundRect">
            <a:avLst>
              <a:gd name="adj" fmla="val 5714"/>
            </a:avLst>
          </a:prstGeom>
          <a:solidFill>
            <a:srgbClr val="EEF2FB"/>
          </a:solidFill>
          <a:ln/>
          <a:effectLst>
            <a:outerShdw blurRad="76200" dist="25400" dir="5400000" algn="bl" rotWithShape="0">
              <a:srgbClr val="B8C0D0">
                <a:alpha val="50000"/>
              </a:srgbClr>
            </a:outerShdw>
          </a:effectLst>
        </p:spPr>
        <p:txBody>
          <a:bodyPr/>
          <a:lstStyle/>
          <a:p>
            <a:endParaRPr lang="en-US"/>
          </a:p>
        </p:txBody>
      </p:sp>
      <p:sp>
        <p:nvSpPr>
          <p:cNvPr id="4" name="Shape 2"/>
          <p:cNvSpPr/>
          <p:nvPr/>
        </p:nvSpPr>
        <p:spPr>
          <a:xfrm>
            <a:off x="640080" y="1417320"/>
            <a:ext cx="594360" cy="594360"/>
          </a:xfrm>
          <a:prstGeom prst="roundRect">
            <a:avLst>
              <a:gd name="adj" fmla="val 15385"/>
            </a:avLst>
          </a:prstGeom>
          <a:solidFill>
            <a:srgbClr val="E56020"/>
          </a:solidFill>
          <a:ln/>
        </p:spPr>
        <p:txBody>
          <a:bodyPr/>
          <a:lstStyle/>
          <a:p>
            <a:endParaRPr lang="en-US"/>
          </a:p>
        </p:txBody>
      </p:sp>
      <p:sp>
        <p:nvSpPr>
          <p:cNvPr id="5" name="Text 3"/>
          <p:cNvSpPr/>
          <p:nvPr/>
        </p:nvSpPr>
        <p:spPr>
          <a:xfrm>
            <a:off x="640080" y="1417320"/>
            <a:ext cx="594360" cy="594360"/>
          </a:xfrm>
          <a:prstGeom prst="rect">
            <a:avLst/>
          </a:prstGeom>
          <a:noFill/>
          <a:ln/>
        </p:spPr>
        <p:txBody>
          <a:bodyPr wrap="square"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01</a:t>
            </a:r>
            <a:endParaRPr lang="en-US" sz="1800" dirty="0"/>
          </a:p>
        </p:txBody>
      </p:sp>
      <p:sp>
        <p:nvSpPr>
          <p:cNvPr id="6" name="Text 4"/>
          <p:cNvSpPr/>
          <p:nvPr/>
        </p:nvSpPr>
        <p:spPr>
          <a:xfrm>
            <a:off x="1417320" y="1353312"/>
            <a:ext cx="7132320" cy="365760"/>
          </a:xfrm>
          <a:prstGeom prst="rect">
            <a:avLst/>
          </a:prstGeom>
          <a:noFill/>
          <a:ln/>
        </p:spPr>
        <p:txBody>
          <a:bodyPr wrap="square" rtlCol="0" anchor="ctr"/>
          <a:lstStyle/>
          <a:p>
            <a:pPr marL="0" indent="0">
              <a:buNone/>
            </a:pPr>
            <a:r>
              <a:rPr lang="en-US" sz="1500" b="1" dirty="0">
                <a:solidFill>
                  <a:srgbClr val="1E2761"/>
                </a:solidFill>
                <a:latin typeface="Calibri" pitchFamily="34" charset="0"/>
                <a:ea typeface="Calibri" pitchFamily="34" charset="-122"/>
                <a:cs typeface="Calibri" pitchFamily="34" charset="-120"/>
              </a:rPr>
              <a:t>Target productive players on cheap contracts</a:t>
            </a:r>
            <a:endParaRPr lang="en-US" sz="1500" dirty="0"/>
          </a:p>
        </p:txBody>
      </p:sp>
      <p:sp>
        <p:nvSpPr>
          <p:cNvPr id="7" name="Text 5"/>
          <p:cNvSpPr/>
          <p:nvPr/>
        </p:nvSpPr>
        <p:spPr>
          <a:xfrm>
            <a:off x="1417320" y="1691640"/>
            <a:ext cx="7178040" cy="457200"/>
          </a:xfrm>
          <a:prstGeom prst="rect">
            <a:avLst/>
          </a:prstGeom>
          <a:noFill/>
          <a:ln/>
        </p:spPr>
        <p:txBody>
          <a:bodyPr wrap="square" rtlCol="0" anchor="ctr"/>
          <a:lstStyle/>
          <a:p>
            <a:pPr marL="0" indent="0">
              <a:buNone/>
            </a:pPr>
            <a:r>
              <a:rPr lang="en-US" sz="1200" dirty="0">
                <a:solidFill>
                  <a:srgbClr val="1A1A2E"/>
                </a:solidFill>
                <a:latin typeface="Calibri" pitchFamily="34" charset="0"/>
                <a:ea typeface="Calibri" pitchFamily="34" charset="-122"/>
                <a:cs typeface="Calibri" pitchFamily="34" charset="-120"/>
              </a:rPr>
              <a:t>Rookie scale and bargain veteran deals hold the most surplus value. Reaves, Avdija, and Alexander-Walker are examples of production the market has not repriced.</a:t>
            </a:r>
            <a:endParaRPr lang="en-US" sz="1200" dirty="0"/>
          </a:p>
        </p:txBody>
      </p:sp>
      <p:sp>
        <p:nvSpPr>
          <p:cNvPr id="8" name="Shape 6"/>
          <p:cNvSpPr/>
          <p:nvPr/>
        </p:nvSpPr>
        <p:spPr>
          <a:xfrm>
            <a:off x="457200" y="2313432"/>
            <a:ext cx="8229600" cy="960120"/>
          </a:xfrm>
          <a:prstGeom prst="roundRect">
            <a:avLst>
              <a:gd name="adj" fmla="val 5714"/>
            </a:avLst>
          </a:prstGeom>
          <a:solidFill>
            <a:srgbClr val="EEF2FB"/>
          </a:solidFill>
          <a:ln/>
          <a:effectLst>
            <a:outerShdw blurRad="76200" dist="25400" dir="5400000" algn="bl" rotWithShape="0">
              <a:srgbClr val="B8C0D0">
                <a:alpha val="50000"/>
              </a:srgbClr>
            </a:outerShdw>
          </a:effectLst>
        </p:spPr>
        <p:txBody>
          <a:bodyPr/>
          <a:lstStyle/>
          <a:p>
            <a:endParaRPr lang="en-US"/>
          </a:p>
        </p:txBody>
      </p:sp>
      <p:sp>
        <p:nvSpPr>
          <p:cNvPr id="9" name="Shape 7"/>
          <p:cNvSpPr/>
          <p:nvPr/>
        </p:nvSpPr>
        <p:spPr>
          <a:xfrm>
            <a:off x="640080" y="2496312"/>
            <a:ext cx="594360" cy="594360"/>
          </a:xfrm>
          <a:prstGeom prst="roundRect">
            <a:avLst>
              <a:gd name="adj" fmla="val 15385"/>
            </a:avLst>
          </a:prstGeom>
          <a:solidFill>
            <a:srgbClr val="E56020"/>
          </a:solidFill>
          <a:ln/>
        </p:spPr>
        <p:txBody>
          <a:bodyPr/>
          <a:lstStyle/>
          <a:p>
            <a:endParaRPr lang="en-US"/>
          </a:p>
        </p:txBody>
      </p:sp>
      <p:sp>
        <p:nvSpPr>
          <p:cNvPr id="10" name="Text 8"/>
          <p:cNvSpPr/>
          <p:nvPr/>
        </p:nvSpPr>
        <p:spPr>
          <a:xfrm>
            <a:off x="640080" y="2496312"/>
            <a:ext cx="594360" cy="594360"/>
          </a:xfrm>
          <a:prstGeom prst="rect">
            <a:avLst/>
          </a:prstGeom>
          <a:noFill/>
          <a:ln/>
        </p:spPr>
        <p:txBody>
          <a:bodyPr wrap="square"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02</a:t>
            </a:r>
            <a:endParaRPr lang="en-US" sz="1800" dirty="0"/>
          </a:p>
        </p:txBody>
      </p:sp>
      <p:sp>
        <p:nvSpPr>
          <p:cNvPr id="11" name="Text 9"/>
          <p:cNvSpPr/>
          <p:nvPr/>
        </p:nvSpPr>
        <p:spPr>
          <a:xfrm>
            <a:off x="1417320" y="2432304"/>
            <a:ext cx="7132320" cy="365760"/>
          </a:xfrm>
          <a:prstGeom prst="rect">
            <a:avLst/>
          </a:prstGeom>
          <a:noFill/>
          <a:ln/>
        </p:spPr>
        <p:txBody>
          <a:bodyPr wrap="square" rtlCol="0" anchor="ctr"/>
          <a:lstStyle/>
          <a:p>
            <a:pPr marL="0" indent="0">
              <a:buNone/>
            </a:pPr>
            <a:r>
              <a:rPr lang="en-US" sz="1500" b="1" dirty="0">
                <a:solidFill>
                  <a:srgbClr val="1E2761"/>
                </a:solidFill>
                <a:latin typeface="Calibri" pitchFamily="34" charset="0"/>
                <a:ea typeface="Calibri" pitchFamily="34" charset="-122"/>
                <a:cs typeface="Calibri" pitchFamily="34" charset="-120"/>
              </a:rPr>
              <a:t>Be disciplined paying for experience and minutes</a:t>
            </a:r>
            <a:endParaRPr lang="en-US" sz="1500" dirty="0"/>
          </a:p>
        </p:txBody>
      </p:sp>
      <p:sp>
        <p:nvSpPr>
          <p:cNvPr id="12" name="Text 10"/>
          <p:cNvSpPr/>
          <p:nvPr/>
        </p:nvSpPr>
        <p:spPr>
          <a:xfrm>
            <a:off x="1417320" y="2770632"/>
            <a:ext cx="7178040" cy="457200"/>
          </a:xfrm>
          <a:prstGeom prst="rect">
            <a:avLst/>
          </a:prstGeom>
          <a:noFill/>
          <a:ln/>
        </p:spPr>
        <p:txBody>
          <a:bodyPr wrap="square" rtlCol="0" anchor="ctr"/>
          <a:lstStyle/>
          <a:p>
            <a:pPr marL="0" indent="0">
              <a:buNone/>
            </a:pPr>
            <a:r>
              <a:rPr lang="en-US" sz="1200" dirty="0">
                <a:solidFill>
                  <a:srgbClr val="1A1A2E"/>
                </a:solidFill>
                <a:latin typeface="Calibri" pitchFamily="34" charset="0"/>
                <a:ea typeface="Calibri" pitchFamily="34" charset="-122"/>
                <a:cs typeface="Calibri" pitchFamily="34" charset="-120"/>
              </a:rPr>
              <a:t>The most overpaid players are veterans whose pay reflects seniority more than current production. Weigh long max extensions for aging stars carefully.</a:t>
            </a:r>
            <a:endParaRPr lang="en-US" sz="1200" dirty="0"/>
          </a:p>
        </p:txBody>
      </p:sp>
      <p:sp>
        <p:nvSpPr>
          <p:cNvPr id="13" name="Shape 11"/>
          <p:cNvSpPr/>
          <p:nvPr/>
        </p:nvSpPr>
        <p:spPr>
          <a:xfrm>
            <a:off x="457200" y="3392424"/>
            <a:ext cx="8229600" cy="960120"/>
          </a:xfrm>
          <a:prstGeom prst="roundRect">
            <a:avLst>
              <a:gd name="adj" fmla="val 5714"/>
            </a:avLst>
          </a:prstGeom>
          <a:solidFill>
            <a:srgbClr val="EEF2FB"/>
          </a:solidFill>
          <a:ln/>
          <a:effectLst>
            <a:outerShdw blurRad="76200" dist="25400" dir="5400000" algn="bl" rotWithShape="0">
              <a:srgbClr val="B8C0D0">
                <a:alpha val="50000"/>
              </a:srgbClr>
            </a:outerShdw>
          </a:effectLst>
        </p:spPr>
        <p:txBody>
          <a:bodyPr/>
          <a:lstStyle/>
          <a:p>
            <a:endParaRPr lang="en-US"/>
          </a:p>
        </p:txBody>
      </p:sp>
      <p:sp>
        <p:nvSpPr>
          <p:cNvPr id="14" name="Shape 12"/>
          <p:cNvSpPr/>
          <p:nvPr/>
        </p:nvSpPr>
        <p:spPr>
          <a:xfrm>
            <a:off x="640080" y="3575304"/>
            <a:ext cx="594360" cy="594360"/>
          </a:xfrm>
          <a:prstGeom prst="roundRect">
            <a:avLst>
              <a:gd name="adj" fmla="val 15385"/>
            </a:avLst>
          </a:prstGeom>
          <a:solidFill>
            <a:srgbClr val="E56020"/>
          </a:solidFill>
          <a:ln/>
        </p:spPr>
        <p:txBody>
          <a:bodyPr/>
          <a:lstStyle/>
          <a:p>
            <a:endParaRPr lang="en-US"/>
          </a:p>
        </p:txBody>
      </p:sp>
      <p:sp>
        <p:nvSpPr>
          <p:cNvPr id="15" name="Text 13"/>
          <p:cNvSpPr/>
          <p:nvPr/>
        </p:nvSpPr>
        <p:spPr>
          <a:xfrm>
            <a:off x="640080" y="3575304"/>
            <a:ext cx="594360" cy="594360"/>
          </a:xfrm>
          <a:prstGeom prst="rect">
            <a:avLst/>
          </a:prstGeom>
          <a:noFill/>
          <a:ln/>
        </p:spPr>
        <p:txBody>
          <a:bodyPr wrap="square"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03</a:t>
            </a:r>
            <a:endParaRPr lang="en-US" sz="1800" dirty="0"/>
          </a:p>
        </p:txBody>
      </p:sp>
      <p:sp>
        <p:nvSpPr>
          <p:cNvPr id="16" name="Text 14"/>
          <p:cNvSpPr/>
          <p:nvPr/>
        </p:nvSpPr>
        <p:spPr>
          <a:xfrm>
            <a:off x="1417320" y="3511296"/>
            <a:ext cx="7132320" cy="365760"/>
          </a:xfrm>
          <a:prstGeom prst="rect">
            <a:avLst/>
          </a:prstGeom>
          <a:noFill/>
          <a:ln/>
        </p:spPr>
        <p:txBody>
          <a:bodyPr wrap="square" rtlCol="0" anchor="ctr"/>
          <a:lstStyle/>
          <a:p>
            <a:pPr marL="0" indent="0">
              <a:buNone/>
            </a:pPr>
            <a:r>
              <a:rPr lang="en-US" sz="1500" b="1" dirty="0">
                <a:solidFill>
                  <a:srgbClr val="1E2761"/>
                </a:solidFill>
                <a:latin typeface="Calibri" pitchFamily="34" charset="0"/>
                <a:ea typeface="Calibri" pitchFamily="34" charset="-122"/>
                <a:cs typeface="Calibri" pitchFamily="34" charset="-120"/>
              </a:rPr>
              <a:t>Benchmark contracts within archetypes</a:t>
            </a:r>
            <a:endParaRPr lang="en-US" sz="1500" dirty="0"/>
          </a:p>
        </p:txBody>
      </p:sp>
      <p:sp>
        <p:nvSpPr>
          <p:cNvPr id="17" name="Text 15"/>
          <p:cNvSpPr/>
          <p:nvPr/>
        </p:nvSpPr>
        <p:spPr>
          <a:xfrm>
            <a:off x="1417320" y="3849624"/>
            <a:ext cx="7178040" cy="457200"/>
          </a:xfrm>
          <a:prstGeom prst="rect">
            <a:avLst/>
          </a:prstGeom>
          <a:noFill/>
          <a:ln/>
        </p:spPr>
        <p:txBody>
          <a:bodyPr wrap="square" rtlCol="0" anchor="ctr"/>
          <a:lstStyle/>
          <a:p>
            <a:pPr marL="0" indent="0">
              <a:buNone/>
            </a:pPr>
            <a:r>
              <a:rPr lang="en-US" sz="1200" dirty="0">
                <a:solidFill>
                  <a:srgbClr val="1A1A2E"/>
                </a:solidFill>
                <a:latin typeface="Calibri" pitchFamily="34" charset="0"/>
                <a:ea typeface="Calibri" pitchFamily="34" charset="-122"/>
                <a:cs typeface="Calibri" pitchFamily="34" charset="-120"/>
              </a:rPr>
              <a:t>Compare pay to peers in the same archetype rather than the whole league. Superstar frontcourt carries the biggest premium, role players are priced efficiently.</a:t>
            </a:r>
            <a:endParaRPr lang="en-US" sz="1200" dirty="0"/>
          </a:p>
        </p:txBody>
      </p:sp>
      <p:sp>
        <p:nvSpPr>
          <p:cNvPr id="18" name="Text 16"/>
          <p:cNvSpPr/>
          <p:nvPr/>
        </p:nvSpPr>
        <p:spPr>
          <a:xfrm>
            <a:off x="8549640" y="4709160"/>
            <a:ext cx="365760" cy="274320"/>
          </a:xfrm>
          <a:prstGeom prst="rect">
            <a:avLst/>
          </a:prstGeom>
          <a:noFill/>
          <a:ln/>
        </p:spPr>
        <p:txBody>
          <a:bodyPr wrap="square" rtlCol="0" anchor="ctr"/>
          <a:lstStyle/>
          <a:p>
            <a:pPr marL="0" indent="0" algn="r">
              <a:buNone/>
            </a:pPr>
            <a:r>
              <a:rPr lang="en-US" sz="1000" dirty="0">
                <a:solidFill>
                  <a:srgbClr val="6B7280"/>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E2761"/>
        </a:solidFill>
        <a:effectLst/>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Conclusion &amp; Future Work</a:t>
            </a:r>
            <a:endParaRPr lang="en-US" sz="3000" dirty="0"/>
          </a:p>
        </p:txBody>
      </p:sp>
      <p:sp>
        <p:nvSpPr>
          <p:cNvPr id="3" name="Shape 1"/>
          <p:cNvSpPr/>
          <p:nvPr/>
        </p:nvSpPr>
        <p:spPr>
          <a:xfrm>
            <a:off x="457200" y="1188720"/>
            <a:ext cx="8229600" cy="1051560"/>
          </a:xfrm>
          <a:prstGeom prst="roundRect">
            <a:avLst>
              <a:gd name="adj" fmla="val 5217"/>
            </a:avLst>
          </a:prstGeom>
          <a:solidFill>
            <a:srgbClr val="2A3670"/>
          </a:solidFill>
          <a:ln/>
          <a:effectLst>
            <a:outerShdw blurRad="76200" dist="25400" dir="5400000" algn="bl" rotWithShape="0">
              <a:srgbClr val="B8C0D0">
                <a:alpha val="50000"/>
              </a:srgbClr>
            </a:outerShdw>
          </a:effectLst>
        </p:spPr>
        <p:txBody>
          <a:bodyPr/>
          <a:lstStyle/>
          <a:p>
            <a:endParaRPr lang="en-US"/>
          </a:p>
        </p:txBody>
      </p:sp>
      <p:sp>
        <p:nvSpPr>
          <p:cNvPr id="4" name="Text 2"/>
          <p:cNvSpPr/>
          <p:nvPr/>
        </p:nvSpPr>
        <p:spPr>
          <a:xfrm>
            <a:off x="685800" y="1298448"/>
            <a:ext cx="7772400" cy="365760"/>
          </a:xfrm>
          <a:prstGeom prst="rect">
            <a:avLst/>
          </a:prstGeom>
          <a:noFill/>
          <a:ln/>
        </p:spPr>
        <p:txBody>
          <a:bodyPr wrap="square" rtlCol="0" anchor="ctr"/>
          <a:lstStyle/>
          <a:p>
            <a:pPr marL="0" indent="0">
              <a:buNone/>
            </a:pPr>
            <a:r>
              <a:rPr lang="en-US" sz="1500" b="1" dirty="0">
                <a:solidFill>
                  <a:srgbClr val="E56020"/>
                </a:solidFill>
                <a:latin typeface="Calibri" pitchFamily="34" charset="0"/>
                <a:ea typeface="Calibri" pitchFamily="34" charset="-122"/>
                <a:cs typeface="Calibri" pitchFamily="34" charset="-120"/>
              </a:rPr>
              <a:t>Final model: Random Forest predicting log salary, test R squared about 0.62.</a:t>
            </a:r>
            <a:endParaRPr lang="en-US" sz="1500" dirty="0"/>
          </a:p>
        </p:txBody>
      </p:sp>
      <p:sp>
        <p:nvSpPr>
          <p:cNvPr id="5" name="Text 3"/>
          <p:cNvSpPr/>
          <p:nvPr/>
        </p:nvSpPr>
        <p:spPr>
          <a:xfrm>
            <a:off x="685800" y="1664208"/>
            <a:ext cx="7772400" cy="548640"/>
          </a:xfrm>
          <a:prstGeom prst="rect">
            <a:avLst/>
          </a:prstGeom>
          <a:noFill/>
          <a:ln/>
        </p:spPr>
        <p:txBody>
          <a:bodyPr wrap="square" rtlCol="0" anchor="ctr"/>
          <a:lstStyle/>
          <a:p>
            <a:pPr marL="0" indent="0">
              <a:buNone/>
            </a:pPr>
            <a:r>
              <a:rPr lang="en-US" sz="1250" dirty="0">
                <a:solidFill>
                  <a:srgbClr val="CADCFC"/>
                </a:solidFill>
                <a:latin typeface="Calibri" pitchFamily="34" charset="0"/>
                <a:ea typeface="Calibri" pitchFamily="34" charset="-122"/>
                <a:cs typeface="Calibri" pitchFamily="34" charset="-120"/>
              </a:rPr>
              <a:t>Salary is driven mainly by experience and minutes, well ahead of per minute production. The model surfaces the most over and underpaid players and shows superstar archetypes carry the largest premium.</a:t>
            </a:r>
            <a:endParaRPr lang="en-US" sz="1250" dirty="0"/>
          </a:p>
        </p:txBody>
      </p:sp>
      <p:sp>
        <p:nvSpPr>
          <p:cNvPr id="6" name="Text 4"/>
          <p:cNvSpPr/>
          <p:nvPr/>
        </p:nvSpPr>
        <p:spPr>
          <a:xfrm>
            <a:off x="457200" y="2468880"/>
            <a:ext cx="8229600" cy="320040"/>
          </a:xfrm>
          <a:prstGeom prst="rect">
            <a:avLst/>
          </a:prstGeom>
          <a:noFill/>
          <a:ln/>
        </p:spPr>
        <p:txBody>
          <a:bodyPr wrap="square"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Future work</a:t>
            </a:r>
            <a:endParaRPr lang="en-US" sz="1500" dirty="0"/>
          </a:p>
        </p:txBody>
      </p:sp>
      <p:sp>
        <p:nvSpPr>
          <p:cNvPr id="7" name="Text 5"/>
          <p:cNvSpPr/>
          <p:nvPr/>
        </p:nvSpPr>
        <p:spPr>
          <a:xfrm>
            <a:off x="640080" y="2834640"/>
            <a:ext cx="8138160" cy="1554480"/>
          </a:xfrm>
          <a:prstGeom prst="rect">
            <a:avLst/>
          </a:prstGeom>
          <a:noFill/>
          <a:ln/>
        </p:spPr>
        <p:txBody>
          <a:bodyPr wrap="square" rtlCol="0" anchor="ctr"/>
          <a:lstStyle/>
          <a:p>
            <a:pPr marL="190500" indent="-190500">
              <a:spcAft>
                <a:spcPts val="700"/>
              </a:spcAft>
              <a:buSzPct val="100000"/>
              <a:buChar char="•"/>
            </a:pPr>
            <a:r>
              <a:rPr lang="en-US" sz="1300" dirty="0">
                <a:solidFill>
                  <a:srgbClr val="E8EDFA"/>
                </a:solidFill>
                <a:latin typeface="Calibri" pitchFamily="34" charset="0"/>
                <a:ea typeface="Calibri" pitchFamily="34" charset="-122"/>
                <a:cs typeface="Calibri" pitchFamily="34" charset="-120"/>
              </a:rPr>
              <a:t>Add contract context such as years remaining, contract type, and injury history</a:t>
            </a:r>
            <a:endParaRPr lang="en-US" sz="1300" dirty="0"/>
          </a:p>
          <a:p>
            <a:pPr marL="190500" indent="-190500">
              <a:spcAft>
                <a:spcPts val="700"/>
              </a:spcAft>
              <a:buSzPct val="100000"/>
              <a:buChar char="•"/>
            </a:pPr>
            <a:r>
              <a:rPr lang="en-US" sz="1300" dirty="0">
                <a:solidFill>
                  <a:srgbClr val="E8EDFA"/>
                </a:solidFill>
                <a:latin typeface="Calibri" pitchFamily="34" charset="0"/>
                <a:ea typeface="Calibri" pitchFamily="34" charset="-122"/>
                <a:cs typeface="Calibri" pitchFamily="34" charset="-120"/>
              </a:rPr>
              <a:t>Model several seasons together to improve stability and separate role from pay</a:t>
            </a:r>
            <a:endParaRPr lang="en-US" sz="1300" dirty="0"/>
          </a:p>
          <a:p>
            <a:pPr marL="190500" indent="-190500">
              <a:spcAft>
                <a:spcPts val="700"/>
              </a:spcAft>
              <a:buSzPct val="100000"/>
              <a:buChar char="•"/>
            </a:pPr>
            <a:r>
              <a:rPr lang="en-US" sz="1300" dirty="0">
                <a:solidFill>
                  <a:srgbClr val="E8EDFA"/>
                </a:solidFill>
                <a:latin typeface="Calibri" pitchFamily="34" charset="0"/>
                <a:ea typeface="Calibri" pitchFamily="34" charset="-122"/>
                <a:cs typeface="Calibri" pitchFamily="34" charset="-120"/>
              </a:rPr>
              <a:t>Apply a smearing correction so the log to dollar value gaps are more accurate</a:t>
            </a:r>
            <a:endParaRPr lang="en-US" sz="1300" dirty="0"/>
          </a:p>
          <a:p>
            <a:pPr marL="190500" indent="-190500">
              <a:spcAft>
                <a:spcPts val="700"/>
              </a:spcAft>
              <a:buSzPct val="100000"/>
              <a:buChar char="•"/>
            </a:pPr>
            <a:r>
              <a:rPr lang="en-US" sz="1300" dirty="0">
                <a:solidFill>
                  <a:srgbClr val="E8EDFA"/>
                </a:solidFill>
                <a:latin typeface="Calibri" pitchFamily="34" charset="0"/>
                <a:ea typeface="Calibri" pitchFamily="34" charset="-122"/>
                <a:cs typeface="Calibri" pitchFamily="34" charset="-120"/>
              </a:rPr>
              <a:t>Add advanced metrics beyond box score rates, such as efficiency and on </a:t>
            </a:r>
            <a:r>
              <a:rPr lang="en-US" sz="1300">
                <a:solidFill>
                  <a:srgbClr val="E8EDFA"/>
                </a:solidFill>
                <a:latin typeface="Calibri" pitchFamily="34" charset="0"/>
                <a:ea typeface="Calibri" pitchFamily="34" charset="-122"/>
                <a:cs typeface="Calibri" pitchFamily="34" charset="-120"/>
              </a:rPr>
              <a:t>court impact</a:t>
            </a:r>
            <a:endParaRPr lang="en-US" sz="1300" dirty="0"/>
          </a:p>
        </p:txBody>
      </p:sp>
      <p:sp>
        <p:nvSpPr>
          <p:cNvPr id="8" name="Text 6"/>
          <p:cNvSpPr/>
          <p:nvPr/>
        </p:nvSpPr>
        <p:spPr>
          <a:xfrm>
            <a:off x="8549640" y="4709160"/>
            <a:ext cx="365760" cy="274320"/>
          </a:xfrm>
          <a:prstGeom prst="rect">
            <a:avLst/>
          </a:prstGeom>
          <a:noFill/>
          <a:ln/>
        </p:spPr>
        <p:txBody>
          <a:bodyPr wrap="square" rtlCol="0" anchor="ctr"/>
          <a:lstStyle/>
          <a:p>
            <a:pPr marL="0" indent="0" algn="r">
              <a:buNone/>
            </a:pPr>
            <a:r>
              <a:rPr lang="en-US" sz="1000" dirty="0">
                <a:solidFill>
                  <a:srgbClr val="6B7280"/>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97</TotalTime>
  <Words>873</Words>
  <Application>Microsoft Office PowerPoint</Application>
  <PresentationFormat>On-screen Show (16:9)</PresentationFormat>
  <Paragraphs>162</Paragraphs>
  <Slides>12</Slides>
  <Notes>12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Erik Babb</cp:lastModifiedBy>
  <cp:revision>5</cp:revision>
  <dcterms:created xsi:type="dcterms:W3CDTF">2026-07-28T04:12:14Z</dcterms:created>
  <dcterms:modified xsi:type="dcterms:W3CDTF">2026-08-17T04:30:13Z</dcterms:modified>
</cp:coreProperties>
</file>